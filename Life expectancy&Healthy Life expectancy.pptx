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19" r:id="rId1"/>
  </p:sldMasterIdLst>
  <p:sldIdLst>
    <p:sldId id="259" r:id="rId2"/>
    <p:sldId id="256" r:id="rId3"/>
    <p:sldId id="260" r:id="rId4"/>
    <p:sldId id="258" r:id="rId5"/>
    <p:sldId id="262" r:id="rId6"/>
    <p:sldId id="261" r:id="rId7"/>
    <p:sldId id="263" r:id="rId8"/>
    <p:sldId id="264" r:id="rId9"/>
    <p:sldId id="265" r:id="rId10"/>
    <p:sldId id="266" r:id="rId11"/>
    <p:sldId id="267" r:id="rId12"/>
    <p:sldId id="268" r:id="rId13"/>
    <p:sldId id="270" r:id="rId14"/>
    <p:sldId id="272" r:id="rId15"/>
    <p:sldId id="273" r:id="rId16"/>
    <p:sldId id="276" r:id="rId17"/>
    <p:sldId id="27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CEDD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2537BE-6D1E-9A3E-975C-F778151A7814}" v="471" dt="2024-08-09T11:51:50.276"/>
    <p1510:client id="{75618A7A-8127-72BD-7A57-E195B465C1C0}" v="734" dt="2024-08-09T20:01:04.492"/>
    <p1510:client id="{7C4B446B-BDA5-394B-7E63-C918CD659CFD}" v="1116" dt="2024-08-10T21:08:31.9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8/10/2024</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562688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chor="ctr"/>
          <a:lstStyle>
            <a:lvl1pPr>
              <a:buClr>
                <a:schemeClr val="accent1">
                  <a:lumMod val="75000"/>
                </a:schemeClr>
              </a:buClr>
              <a:defRPr/>
            </a:lvl1pPr>
            <a:lvl2pPr>
              <a:buClr>
                <a:schemeClr val="accent1">
                  <a:lumMod val="75000"/>
                </a:schemeClr>
              </a:buClr>
              <a:defRPr/>
            </a:lvl2pPr>
            <a:lvl3pPr>
              <a:buClr>
                <a:schemeClr val="accent1">
                  <a:lumMod val="75000"/>
                </a:schemeClr>
              </a:buClr>
              <a:defRPr/>
            </a:lvl3pPr>
            <a:lvl4pPr>
              <a:buClr>
                <a:schemeClr val="accent1">
                  <a:lumMod val="75000"/>
                </a:schemeClr>
              </a:buClr>
              <a:defRPr/>
            </a:lvl4pPr>
            <a:lvl5pPr>
              <a:buClr>
                <a:schemeClr val="accent1">
                  <a:lumMod val="75000"/>
                </a:schemeClr>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8/10/2024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4175448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4806126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p>
        </p:txBody>
      </p:sp>
      <p:sp>
        <p:nvSpPr>
          <p:cNvPr id="3" name="Content Placeholder 2"/>
          <p:cNvSpPr>
            <a:spLocks noGrp="1"/>
          </p:cNvSpPr>
          <p:nvPr>
            <p:ph sz="half" idx="1"/>
          </p:nvPr>
        </p:nvSpPr>
        <p:spPr>
          <a:xfrm>
            <a:off x="1484312" y="2666999"/>
            <a:ext cx="4895055" cy="3124201"/>
          </a:xfrm>
        </p:spPr>
        <p:txBody>
          <a:bodyPr>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607967" y="2667000"/>
            <a:ext cx="4895056" cy="3124200"/>
          </a:xfrm>
        </p:spPr>
        <p:txBody>
          <a:bodyPr>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8/10/2024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3683212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8/10/2024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4331658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8/10/2024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1086858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8/10/2024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1000691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0620988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9165099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0951364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42346785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6935254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1248279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2244696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9680159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8/10/2024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7805912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8/10/2024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8836268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8/10/2024</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a:p>
        </p:txBody>
      </p:sp>
    </p:spTree>
    <p:extLst>
      <p:ext uri="{BB962C8B-B14F-4D97-AF65-F5344CB8AC3E}">
        <p14:creationId xmlns:p14="http://schemas.microsoft.com/office/powerpoint/2010/main" val="1085454079"/>
      </p:ext>
    </p:extLst>
  </p:cSld>
  <p:clrMap bg1="lt1" tx1="dk1" bg2="lt2" tx2="dk2" accent1="accent1" accent2="accent2" accent3="accent3" accent4="accent4" accent5="accent5" accent6="accent6" hlink="hlink" folHlink="folHlink"/>
  <p:sldLayoutIdLst>
    <p:sldLayoutId id="2147483920" r:id="rId1"/>
    <p:sldLayoutId id="2147483921" r:id="rId2"/>
    <p:sldLayoutId id="2147483922" r:id="rId3"/>
    <p:sldLayoutId id="2147483923" r:id="rId4"/>
    <p:sldLayoutId id="2147483924" r:id="rId5"/>
    <p:sldLayoutId id="2147483925" r:id="rId6"/>
    <p:sldLayoutId id="2147483926" r:id="rId7"/>
    <p:sldLayoutId id="2147483927" r:id="rId8"/>
    <p:sldLayoutId id="2147483928" r:id="rId9"/>
    <p:sldLayoutId id="2147483929" r:id="rId10"/>
    <p:sldLayoutId id="2147483930" r:id="rId11"/>
    <p:sldLayoutId id="2147483931" r:id="rId12"/>
    <p:sldLayoutId id="2147483932" r:id="rId13"/>
    <p:sldLayoutId id="2147483933" r:id="rId14"/>
    <p:sldLayoutId id="2147483934" r:id="rId15"/>
    <p:sldLayoutId id="2147483935" r:id="rId16"/>
    <p:sldLayoutId id="2147483936"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www.pngall.com/crowd-png/download/33327" TargetMode="External"/><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hyperlink" Target="https://www.pngall.com/crowd-png/download/33327"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hyperlink" Target="https://www.pngall.com/crowd-png/download/33327"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hyperlink" Target="https://www.pngall.com/crowd-png/download/3332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E93F2-2EDA-AB61-859A-FFB5B7889CB7}"/>
              </a:ext>
            </a:extLst>
          </p:cNvPr>
          <p:cNvSpPr>
            <a:spLocks noGrp="1"/>
          </p:cNvSpPr>
          <p:nvPr>
            <p:ph type="title"/>
          </p:nvPr>
        </p:nvSpPr>
        <p:spPr/>
        <p:txBody>
          <a:bodyPr/>
          <a:lstStyle/>
          <a:p>
            <a:pPr algn="l"/>
            <a:r>
              <a:rPr lang="en-US" sz="2400" b="1">
                <a:solidFill>
                  <a:schemeClr val="bg2">
                    <a:lumMod val="25000"/>
                  </a:schemeClr>
                </a:solidFill>
                <a:latin typeface="Times New Roman"/>
                <a:cs typeface="Times New Roman"/>
              </a:rPr>
              <a:t>A few months ago I started a Data Analytics course with Cambridge Spark and I wish I had done it earlier because I enjoyed it immensely and looked forward to every session. </a:t>
            </a:r>
            <a:endParaRPr lang="en-US" sz="2400">
              <a:solidFill>
                <a:schemeClr val="bg2">
                  <a:lumMod val="25000"/>
                </a:schemeClr>
              </a:solidFill>
              <a:latin typeface="Times New Roman"/>
              <a:cs typeface="Times New Roman"/>
            </a:endParaRPr>
          </a:p>
          <a:p>
            <a:endParaRPr lang="en-US"/>
          </a:p>
        </p:txBody>
      </p:sp>
      <p:sp>
        <p:nvSpPr>
          <p:cNvPr id="3" name="Content Placeholder 2">
            <a:extLst>
              <a:ext uri="{FF2B5EF4-FFF2-40B4-BE49-F238E27FC236}">
                <a16:creationId xmlns:a16="http://schemas.microsoft.com/office/drawing/2014/main" id="{86A591D2-F9C3-D5B1-161D-5E3183440E86}"/>
              </a:ext>
            </a:extLst>
          </p:cNvPr>
          <p:cNvSpPr>
            <a:spLocks noGrp="1"/>
          </p:cNvSpPr>
          <p:nvPr>
            <p:ph idx="1"/>
          </p:nvPr>
        </p:nvSpPr>
        <p:spPr>
          <a:xfrm>
            <a:off x="1842138" y="1999651"/>
            <a:ext cx="9500862" cy="3416300"/>
          </a:xfrm>
        </p:spPr>
        <p:txBody>
          <a:bodyPr vert="horz" lIns="91440" tIns="45720" rIns="91440" bIns="45720" rtlCol="0" anchor="t">
            <a:noAutofit/>
          </a:bodyPr>
          <a:lstStyle/>
          <a:p>
            <a:pPr>
              <a:buFont typeface="Wingdings" charset="2"/>
              <a:buChar char="Ø"/>
            </a:pPr>
            <a:endParaRPr lang="en-US">
              <a:solidFill>
                <a:schemeClr val="accent6">
                  <a:lumMod val="49000"/>
                </a:schemeClr>
              </a:solidFill>
            </a:endParaRPr>
          </a:p>
          <a:p>
            <a:pPr marL="0" indent="0">
              <a:buNone/>
            </a:pPr>
            <a:r>
              <a:rPr lang="en-US" sz="2000" dirty="0">
                <a:solidFill>
                  <a:schemeClr val="tx1">
                    <a:lumMod val="85000"/>
                    <a:lumOff val="15000"/>
                  </a:schemeClr>
                </a:solidFill>
                <a:latin typeface="Times New Roman"/>
                <a:ea typeface="+mn-lt"/>
                <a:cs typeface="+mn-lt"/>
              </a:rPr>
              <a:t>This course gave me the opportunity to:</a:t>
            </a:r>
            <a:endParaRPr lang="en-US" sz="2000" dirty="0">
              <a:solidFill>
                <a:schemeClr val="tx1">
                  <a:lumMod val="85000"/>
                  <a:lumOff val="15000"/>
                </a:schemeClr>
              </a:solidFill>
              <a:latin typeface="Times New Roman"/>
              <a:cs typeface="Times New Roman"/>
            </a:endParaRPr>
          </a:p>
          <a:p>
            <a:pPr>
              <a:buFont typeface="Wingdings" charset="2"/>
              <a:buChar char="Ø"/>
            </a:pPr>
            <a:r>
              <a:rPr lang="en-US" sz="2000" dirty="0">
                <a:solidFill>
                  <a:schemeClr val="tx1">
                    <a:lumMod val="85000"/>
                    <a:lumOff val="15000"/>
                  </a:schemeClr>
                </a:solidFill>
                <a:latin typeface="Times New Roman"/>
                <a:ea typeface="+mn-lt"/>
                <a:cs typeface="+mn-lt"/>
              </a:rPr>
              <a:t> </a:t>
            </a:r>
            <a:r>
              <a:rPr lang="en-US" sz="2000" dirty="0" err="1">
                <a:solidFill>
                  <a:schemeClr val="tx1">
                    <a:lumMod val="85000"/>
                    <a:lumOff val="15000"/>
                  </a:schemeClr>
                </a:solidFill>
                <a:latin typeface="Times New Roman"/>
                <a:ea typeface="+mn-lt"/>
                <a:cs typeface="+mn-lt"/>
              </a:rPr>
              <a:t>analyse</a:t>
            </a:r>
            <a:r>
              <a:rPr lang="en-US" sz="2000" dirty="0">
                <a:solidFill>
                  <a:schemeClr val="tx1">
                    <a:lumMod val="85000"/>
                    <a:lumOff val="15000"/>
                  </a:schemeClr>
                </a:solidFill>
                <a:latin typeface="Times New Roman"/>
                <a:ea typeface="+mn-lt"/>
                <a:cs typeface="+mn-lt"/>
              </a:rPr>
              <a:t> large datasets and perform  data manipulation using Pandas and </a:t>
            </a:r>
            <a:r>
              <a:rPr lang="en-US" sz="2000" dirty="0" err="1">
                <a:solidFill>
                  <a:schemeClr val="tx1">
                    <a:lumMod val="85000"/>
                    <a:lumOff val="15000"/>
                  </a:schemeClr>
                </a:solidFill>
                <a:latin typeface="Times New Roman"/>
                <a:ea typeface="+mn-lt"/>
                <a:cs typeface="+mn-lt"/>
              </a:rPr>
              <a:t>Numpy</a:t>
            </a:r>
            <a:r>
              <a:rPr lang="en-US" sz="2000" dirty="0">
                <a:solidFill>
                  <a:schemeClr val="tx1">
                    <a:lumMod val="85000"/>
                    <a:lumOff val="15000"/>
                  </a:schemeClr>
                </a:solidFill>
                <a:latin typeface="Times New Roman"/>
                <a:ea typeface="+mn-lt"/>
                <a:cs typeface="+mn-lt"/>
              </a:rPr>
              <a:t>,</a:t>
            </a:r>
            <a:endParaRPr lang="en-US" sz="2000" dirty="0">
              <a:solidFill>
                <a:schemeClr val="tx1">
                  <a:lumMod val="85000"/>
                  <a:lumOff val="15000"/>
                </a:schemeClr>
              </a:solidFill>
              <a:latin typeface="Times New Roman"/>
              <a:cs typeface="Times New Roman"/>
            </a:endParaRPr>
          </a:p>
          <a:p>
            <a:pPr>
              <a:buFont typeface="Wingdings" charset="2"/>
              <a:buChar char="Ø"/>
            </a:pPr>
            <a:r>
              <a:rPr lang="en-US" sz="2000" dirty="0">
                <a:solidFill>
                  <a:schemeClr val="tx1">
                    <a:lumMod val="85000"/>
                    <a:lumOff val="15000"/>
                  </a:schemeClr>
                </a:solidFill>
                <a:latin typeface="Times New Roman"/>
                <a:ea typeface="+mn-lt"/>
                <a:cs typeface="+mn-lt"/>
              </a:rPr>
              <a:t> carry out data cleaning, pre-processing for accuracy and completeness</a:t>
            </a:r>
          </a:p>
          <a:p>
            <a:pPr>
              <a:buFont typeface="Wingdings" charset="2"/>
              <a:buChar char="Ø"/>
            </a:pPr>
            <a:r>
              <a:rPr lang="en-US" sz="2000" dirty="0">
                <a:solidFill>
                  <a:schemeClr val="tx1">
                    <a:lumMod val="85000"/>
                    <a:lumOff val="15000"/>
                  </a:schemeClr>
                </a:solidFill>
                <a:latin typeface="Times New Roman"/>
                <a:ea typeface="+mn-lt"/>
                <a:cs typeface="+mn-lt"/>
              </a:rPr>
              <a:t> implement statistical analysis using Python to identify trends and patterns </a:t>
            </a:r>
            <a:endParaRPr lang="en-US" sz="2000" dirty="0">
              <a:solidFill>
                <a:schemeClr val="tx1">
                  <a:lumMod val="85000"/>
                  <a:lumOff val="15000"/>
                </a:schemeClr>
              </a:solidFill>
              <a:latin typeface="Times New Roman"/>
              <a:cs typeface="Times New Roman"/>
            </a:endParaRPr>
          </a:p>
          <a:p>
            <a:pPr>
              <a:buFont typeface="Wingdings" charset="2"/>
              <a:buChar char="Ø"/>
            </a:pPr>
            <a:r>
              <a:rPr lang="en-US" sz="2000" dirty="0">
                <a:solidFill>
                  <a:schemeClr val="tx1">
                    <a:lumMod val="85000"/>
                    <a:lumOff val="15000"/>
                  </a:schemeClr>
                </a:solidFill>
                <a:latin typeface="Times New Roman"/>
                <a:ea typeface="+mn-lt"/>
                <a:cs typeface="+mn-lt"/>
              </a:rPr>
              <a:t> </a:t>
            </a:r>
            <a:r>
              <a:rPr lang="en-US" sz="2000" dirty="0" err="1">
                <a:solidFill>
                  <a:schemeClr val="tx1">
                    <a:lumMod val="85000"/>
                    <a:lumOff val="15000"/>
                  </a:schemeClr>
                </a:solidFill>
                <a:latin typeface="Times New Roman"/>
                <a:ea typeface="+mn-lt"/>
                <a:cs typeface="+mn-lt"/>
              </a:rPr>
              <a:t>optimise</a:t>
            </a:r>
            <a:r>
              <a:rPr lang="en-US" sz="2000" dirty="0">
                <a:solidFill>
                  <a:schemeClr val="tx1">
                    <a:lumMod val="85000"/>
                    <a:lumOff val="15000"/>
                  </a:schemeClr>
                </a:solidFill>
                <a:latin typeface="Times New Roman"/>
                <a:ea typeface="+mn-lt"/>
                <a:cs typeface="+mn-lt"/>
              </a:rPr>
              <a:t> SQL queries to improve data retrieval times</a:t>
            </a:r>
            <a:endParaRPr lang="en-US" sz="2000" dirty="0">
              <a:solidFill>
                <a:schemeClr val="tx1">
                  <a:lumMod val="85000"/>
                  <a:lumOff val="15000"/>
                </a:schemeClr>
              </a:solidFill>
              <a:latin typeface="Times New Roman"/>
              <a:cs typeface="Times New Roman"/>
            </a:endParaRPr>
          </a:p>
          <a:p>
            <a:pPr>
              <a:buFont typeface="Wingdings" charset="2"/>
              <a:buChar char="Ø"/>
            </a:pPr>
            <a:r>
              <a:rPr lang="en-US" sz="2000" dirty="0">
                <a:solidFill>
                  <a:schemeClr val="tx1">
                    <a:lumMod val="85000"/>
                    <a:lumOff val="15000"/>
                  </a:schemeClr>
                </a:solidFill>
                <a:latin typeface="Times New Roman"/>
                <a:ea typeface="+mn-lt"/>
                <a:cs typeface="+mn-lt"/>
              </a:rPr>
              <a:t> create data </a:t>
            </a:r>
            <a:r>
              <a:rPr lang="en-US" sz="2000" dirty="0" err="1">
                <a:solidFill>
                  <a:schemeClr val="tx1">
                    <a:lumMod val="85000"/>
                    <a:lumOff val="15000"/>
                  </a:schemeClr>
                </a:solidFill>
                <a:latin typeface="Times New Roman"/>
                <a:ea typeface="+mn-lt"/>
                <a:cs typeface="+mn-lt"/>
              </a:rPr>
              <a:t>visualisations</a:t>
            </a:r>
            <a:r>
              <a:rPr lang="en-US" sz="2000" dirty="0">
                <a:solidFill>
                  <a:schemeClr val="tx1">
                    <a:lumMod val="85000"/>
                    <a:lumOff val="15000"/>
                  </a:schemeClr>
                </a:solidFill>
                <a:latin typeface="Times New Roman"/>
                <a:ea typeface="+mn-lt"/>
                <a:cs typeface="+mn-lt"/>
              </a:rPr>
              <a:t> using Matplotlib, Seaborn and Power BI</a:t>
            </a:r>
            <a:endParaRPr lang="en-US" sz="2000" dirty="0">
              <a:solidFill>
                <a:schemeClr val="tx1">
                  <a:lumMod val="85000"/>
                  <a:lumOff val="15000"/>
                </a:schemeClr>
              </a:solidFill>
              <a:latin typeface="Times New Roman"/>
              <a:cs typeface="Times New Roman"/>
            </a:endParaRPr>
          </a:p>
          <a:p>
            <a:pPr marL="0" indent="0">
              <a:buClr>
                <a:srgbClr val="1287C3"/>
              </a:buClr>
              <a:buNone/>
            </a:pPr>
            <a:endParaRPr lang="en-US" sz="2000">
              <a:solidFill>
                <a:schemeClr val="bg2">
                  <a:lumMod val="25000"/>
                </a:schemeClr>
              </a:solidFill>
              <a:ea typeface="+mn-lt"/>
              <a:cs typeface="+mn-lt"/>
            </a:endParaRPr>
          </a:p>
          <a:p>
            <a:pPr marL="0" indent="0">
              <a:buNone/>
            </a:pPr>
            <a:r>
              <a:rPr lang="en-US" sz="2000" dirty="0">
                <a:solidFill>
                  <a:schemeClr val="tx1">
                    <a:lumMod val="85000"/>
                    <a:lumOff val="15000"/>
                  </a:schemeClr>
                </a:solidFill>
                <a:latin typeface="Times New Roman"/>
                <a:ea typeface="+mn-lt"/>
                <a:cs typeface="+mn-lt"/>
              </a:rPr>
              <a:t>Overall, I have improved my technical and analytical skills. Now I look forward to learning new things and progressing in this field.</a:t>
            </a:r>
          </a:p>
        </p:txBody>
      </p:sp>
    </p:spTree>
    <p:extLst>
      <p:ext uri="{BB962C8B-B14F-4D97-AF65-F5344CB8AC3E}">
        <p14:creationId xmlns:p14="http://schemas.microsoft.com/office/powerpoint/2010/main" val="17520001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 group of people walking&#10;&#10;Description automatically generated">
            <a:extLst>
              <a:ext uri="{FF2B5EF4-FFF2-40B4-BE49-F238E27FC236}">
                <a16:creationId xmlns:a16="http://schemas.microsoft.com/office/drawing/2014/main" id="{23F4F3FE-F252-78D2-DE23-AE7412DC12DF}"/>
              </a:ext>
            </a:extLst>
          </p:cNvPr>
          <p:cNvPicPr>
            <a:picLocks noChangeAspect="1"/>
          </p:cNvPicPr>
          <p:nvPr/>
        </p:nvPicPr>
        <p:blipFill>
          <a:blip r:embed="rId2">
            <a:duotone>
              <a:prstClr val="black"/>
              <a:prstClr val="white"/>
            </a:duotone>
            <a:alphaModFix amt="30000"/>
            <a:extLst>
              <a:ext uri="{837473B0-CC2E-450A-ABE3-18F120FF3D39}">
                <a1611:picAttrSrcUrl xmlns:a1611="http://schemas.microsoft.com/office/drawing/2016/11/main" r:id="rId3"/>
              </a:ext>
            </a:extLst>
          </a:blip>
          <a:srcRect l="6596" r="6595" b="-1"/>
          <a:stretch/>
        </p:blipFill>
        <p:spPr>
          <a:xfrm>
            <a:off x="594359" y="596644"/>
            <a:ext cx="10988585" cy="5664712"/>
          </a:xfrm>
          <a:prstGeom prst="rect">
            <a:avLst/>
          </a:prstGeom>
        </p:spPr>
      </p:pic>
      <p:sp>
        <p:nvSpPr>
          <p:cNvPr id="2" name="Title 1"/>
          <p:cNvSpPr>
            <a:spLocks noGrp="1"/>
          </p:cNvSpPr>
          <p:nvPr>
            <p:ph type="ctrTitle"/>
          </p:nvPr>
        </p:nvSpPr>
        <p:spPr>
          <a:xfrm>
            <a:off x="1672087" y="1047623"/>
            <a:ext cx="10515600" cy="3041345"/>
          </a:xfrm>
        </p:spPr>
        <p:txBody>
          <a:bodyPr>
            <a:normAutofit/>
          </a:bodyPr>
          <a:lstStyle/>
          <a:p>
            <a:pPr algn="ctr"/>
            <a:r>
              <a:rPr lang="en-US" sz="4800" b="1" dirty="0">
                <a:solidFill>
                  <a:schemeClr val="bg2">
                    <a:lumMod val="25000"/>
                  </a:schemeClr>
                </a:solidFill>
                <a:latin typeface="Times New Roman"/>
                <a:cs typeface="Angsana New"/>
              </a:rPr>
              <a:t>Life Expectancy at birth</a:t>
            </a:r>
            <a:br>
              <a:rPr lang="en-US" sz="4800" b="1" dirty="0">
                <a:latin typeface="Times New Roman"/>
                <a:cs typeface="Angsana New"/>
              </a:rPr>
            </a:br>
            <a:r>
              <a:rPr lang="en-US" sz="4800" b="1" dirty="0">
                <a:solidFill>
                  <a:schemeClr val="bg2">
                    <a:lumMod val="25000"/>
                  </a:schemeClr>
                </a:solidFill>
                <a:latin typeface="Times New Roman"/>
                <a:cs typeface="Angsana New"/>
              </a:rPr>
              <a:t> &amp; </a:t>
            </a:r>
            <a:br>
              <a:rPr lang="en-US" sz="4800" b="1" dirty="0">
                <a:latin typeface="Times New Roman"/>
                <a:cs typeface="Angsana New"/>
              </a:rPr>
            </a:br>
            <a:r>
              <a:rPr lang="en-US" sz="4800" b="1" dirty="0">
                <a:solidFill>
                  <a:schemeClr val="accent1"/>
                </a:solidFill>
                <a:latin typeface="Times New Roman"/>
                <a:cs typeface="Angsana New"/>
              </a:rPr>
              <a:t>Healthy Life Expectancy at birth</a:t>
            </a:r>
            <a:endParaRPr lang="en-US" sz="4800" b="1">
              <a:solidFill>
                <a:schemeClr val="accent1"/>
              </a:solidFill>
              <a:latin typeface="Times New Roman"/>
              <a:cs typeface="Times New Roman"/>
            </a:endParaRPr>
          </a:p>
        </p:txBody>
      </p:sp>
      <p:sp>
        <p:nvSpPr>
          <p:cNvPr id="3" name="Subtitle 2"/>
          <p:cNvSpPr>
            <a:spLocks noGrp="1"/>
          </p:cNvSpPr>
          <p:nvPr>
            <p:ph type="subTitle" idx="1"/>
          </p:nvPr>
        </p:nvSpPr>
        <p:spPr>
          <a:xfrm>
            <a:off x="908755" y="4259955"/>
            <a:ext cx="10445045" cy="1729682"/>
          </a:xfrm>
        </p:spPr>
        <p:txBody>
          <a:bodyPr vert="horz" lIns="91440" tIns="45720" rIns="91440" bIns="45720" rtlCol="0" anchor="t">
            <a:normAutofit fontScale="92500"/>
          </a:bodyPr>
          <a:lstStyle/>
          <a:p>
            <a:r>
              <a:rPr lang="en-US" dirty="0"/>
              <a:t>  </a:t>
            </a:r>
          </a:p>
          <a:p>
            <a:endParaRPr lang="en-US"/>
          </a:p>
          <a:p>
            <a:r>
              <a:rPr lang="en-US" dirty="0"/>
              <a:t>                       </a:t>
            </a:r>
            <a:r>
              <a:rPr lang="en-US" dirty="0">
                <a:solidFill>
                  <a:srgbClr val="0070C0"/>
                </a:solidFill>
              </a:rPr>
              <a:t> </a:t>
            </a:r>
          </a:p>
          <a:p>
            <a:r>
              <a:rPr lang="en-US" dirty="0">
                <a:solidFill>
                  <a:srgbClr val="0070C0"/>
                </a:solidFill>
              </a:rPr>
              <a:t>                             </a:t>
            </a:r>
            <a:r>
              <a:rPr lang="en-US" dirty="0">
                <a:solidFill>
                  <a:srgbClr val="1CEDD8"/>
                </a:solidFill>
                <a:latin typeface="Times New Roman"/>
                <a:cs typeface="Times New Roman"/>
              </a:rPr>
              <a:t>      </a:t>
            </a:r>
            <a:r>
              <a:rPr lang="en-US" sz="2400" dirty="0">
                <a:solidFill>
                  <a:schemeClr val="accent1"/>
                </a:solidFill>
                <a:latin typeface="Times New Roman"/>
                <a:cs typeface="Times New Roman"/>
              </a:rPr>
              <a:t>by Lidia Pascu</a:t>
            </a:r>
          </a:p>
        </p:txBody>
      </p:sp>
    </p:spTree>
    <p:extLst>
      <p:ext uri="{BB962C8B-B14F-4D97-AF65-F5344CB8AC3E}">
        <p14:creationId xmlns:p14="http://schemas.microsoft.com/office/powerpoint/2010/main" val="1098572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5B4F647-1F29-4FE8-A8B0-8BC30BA73D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group of people walking&#10;&#10;Description automatically generated">
            <a:extLst>
              <a:ext uri="{FF2B5EF4-FFF2-40B4-BE49-F238E27FC236}">
                <a16:creationId xmlns:a16="http://schemas.microsoft.com/office/drawing/2014/main" id="{2D648626-AA4A-45F2-51B1-F466A91A57E0}"/>
              </a:ext>
            </a:extLst>
          </p:cNvPr>
          <p:cNvPicPr>
            <a:picLocks noChangeAspect="1"/>
          </p:cNvPicPr>
          <p:nvPr/>
        </p:nvPicPr>
        <p:blipFill>
          <a:blip r:embed="rId3">
            <a:extLst>
              <a:ext uri="{837473B0-CC2E-450A-ABE3-18F120FF3D39}">
                <a1611:picAttrSrcUrl xmlns:a1611="http://schemas.microsoft.com/office/drawing/2016/11/main" r:id="rId4"/>
              </a:ext>
            </a:extLst>
          </a:blip>
          <a:srcRect l="21749" t="1640" r="-1" b="-1"/>
          <a:stretch/>
        </p:blipFill>
        <p:spPr>
          <a:xfrm>
            <a:off x="20" y="-14101"/>
            <a:ext cx="12191980" cy="6857990"/>
          </a:xfrm>
          <a:prstGeom prst="rect">
            <a:avLst/>
          </a:prstGeom>
        </p:spPr>
      </p:pic>
      <p:sp>
        <p:nvSpPr>
          <p:cNvPr id="12" name="Freeform 15">
            <a:extLst>
              <a:ext uri="{FF2B5EF4-FFF2-40B4-BE49-F238E27FC236}">
                <a16:creationId xmlns:a16="http://schemas.microsoft.com/office/drawing/2014/main" id="{8CB25011-AC31-40E8-AD18-B6BEF6630D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flipH="1">
            <a:off x="3005669" y="-16933"/>
            <a:ext cx="9220200" cy="6891867"/>
          </a:xfrm>
          <a:custGeom>
            <a:avLst/>
            <a:gdLst>
              <a:gd name="connsiteX0" fmla="*/ 5427133 w 7340600"/>
              <a:gd name="connsiteY0" fmla="*/ 8466 h 6883400"/>
              <a:gd name="connsiteX1" fmla="*/ 4783666 w 7340600"/>
              <a:gd name="connsiteY1" fmla="*/ 2573866 h 6883400"/>
              <a:gd name="connsiteX2" fmla="*/ 7340600 w 7340600"/>
              <a:gd name="connsiteY2" fmla="*/ 6874933 h 6883400"/>
              <a:gd name="connsiteX3" fmla="*/ 0 w 7340600"/>
              <a:gd name="connsiteY3" fmla="*/ 6883400 h 6883400"/>
              <a:gd name="connsiteX4" fmla="*/ 8466 w 7340600"/>
              <a:gd name="connsiteY4" fmla="*/ 0 h 6883400"/>
              <a:gd name="connsiteX5" fmla="*/ 5427133 w 7340600"/>
              <a:gd name="connsiteY5" fmla="*/ 8466 h 6883400"/>
              <a:gd name="connsiteX0" fmla="*/ 8382001 w 10295468"/>
              <a:gd name="connsiteY0" fmla="*/ 8466 h 6883400"/>
              <a:gd name="connsiteX1" fmla="*/ 7738534 w 10295468"/>
              <a:gd name="connsiteY1" fmla="*/ 2573866 h 6883400"/>
              <a:gd name="connsiteX2" fmla="*/ 10295468 w 10295468"/>
              <a:gd name="connsiteY2" fmla="*/ 6874933 h 6883400"/>
              <a:gd name="connsiteX3" fmla="*/ 2954868 w 10295468"/>
              <a:gd name="connsiteY3" fmla="*/ 6883400 h 6883400"/>
              <a:gd name="connsiteX4" fmla="*/ 0 w 10295468"/>
              <a:gd name="connsiteY4" fmla="*/ 0 h 6883400"/>
              <a:gd name="connsiteX5" fmla="*/ 8382001 w 10295468"/>
              <a:gd name="connsiteY5" fmla="*/ 8466 h 6883400"/>
              <a:gd name="connsiteX0" fmla="*/ 8382001 w 10295468"/>
              <a:gd name="connsiteY0" fmla="*/ 8466 h 6891867"/>
              <a:gd name="connsiteX1" fmla="*/ 7738534 w 10295468"/>
              <a:gd name="connsiteY1" fmla="*/ 2573866 h 6891867"/>
              <a:gd name="connsiteX2" fmla="*/ 10295468 w 10295468"/>
              <a:gd name="connsiteY2" fmla="*/ 6874933 h 6891867"/>
              <a:gd name="connsiteX3" fmla="*/ 16935 w 10295468"/>
              <a:gd name="connsiteY3" fmla="*/ 6891867 h 6891867"/>
              <a:gd name="connsiteX4" fmla="*/ 0 w 10295468"/>
              <a:gd name="connsiteY4" fmla="*/ 0 h 6891867"/>
              <a:gd name="connsiteX5" fmla="*/ 8382001 w 10295468"/>
              <a:gd name="connsiteY5" fmla="*/ 8466 h 6891867"/>
              <a:gd name="connsiteX0" fmla="*/ 8382001 w 8382001"/>
              <a:gd name="connsiteY0" fmla="*/ 8466 h 6891867"/>
              <a:gd name="connsiteX1" fmla="*/ 7738534 w 8382001"/>
              <a:gd name="connsiteY1" fmla="*/ 2573866 h 6891867"/>
              <a:gd name="connsiteX2" fmla="*/ 7340602 w 8382001"/>
              <a:gd name="connsiteY2" fmla="*/ 6883400 h 6891867"/>
              <a:gd name="connsiteX3" fmla="*/ 16935 w 8382001"/>
              <a:gd name="connsiteY3" fmla="*/ 6891867 h 6891867"/>
              <a:gd name="connsiteX4" fmla="*/ 0 w 8382001"/>
              <a:gd name="connsiteY4" fmla="*/ 0 h 6891867"/>
              <a:gd name="connsiteX5" fmla="*/ 8382001 w 8382001"/>
              <a:gd name="connsiteY5" fmla="*/ 8466 h 6891867"/>
              <a:gd name="connsiteX0" fmla="*/ 8382001 w 9220200"/>
              <a:gd name="connsiteY0" fmla="*/ 8466 h 6891867"/>
              <a:gd name="connsiteX1" fmla="*/ 9220200 w 9220200"/>
              <a:gd name="connsiteY1" fmla="*/ 5350932 h 6891867"/>
              <a:gd name="connsiteX2" fmla="*/ 7340602 w 9220200"/>
              <a:gd name="connsiteY2" fmla="*/ 6883400 h 6891867"/>
              <a:gd name="connsiteX3" fmla="*/ 16935 w 9220200"/>
              <a:gd name="connsiteY3" fmla="*/ 6891867 h 6891867"/>
              <a:gd name="connsiteX4" fmla="*/ 0 w 9220200"/>
              <a:gd name="connsiteY4" fmla="*/ 0 h 6891867"/>
              <a:gd name="connsiteX5" fmla="*/ 8382001 w 9220200"/>
              <a:gd name="connsiteY5" fmla="*/ 8466 h 6891867"/>
              <a:gd name="connsiteX0" fmla="*/ 8382001 w 9220200"/>
              <a:gd name="connsiteY0" fmla="*/ 8466 h 6891867"/>
              <a:gd name="connsiteX1" fmla="*/ 9220200 w 9220200"/>
              <a:gd name="connsiteY1" fmla="*/ 5350932 h 6891867"/>
              <a:gd name="connsiteX2" fmla="*/ 7298269 w 9220200"/>
              <a:gd name="connsiteY2" fmla="*/ 6883400 h 6891867"/>
              <a:gd name="connsiteX3" fmla="*/ 16935 w 9220200"/>
              <a:gd name="connsiteY3" fmla="*/ 6891867 h 6891867"/>
              <a:gd name="connsiteX4" fmla="*/ 0 w 9220200"/>
              <a:gd name="connsiteY4" fmla="*/ 0 h 6891867"/>
              <a:gd name="connsiteX5" fmla="*/ 8382001 w 9220200"/>
              <a:gd name="connsiteY5" fmla="*/ 8466 h 689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20200" h="6891867">
                <a:moveTo>
                  <a:pt x="8382001" y="8466"/>
                </a:moveTo>
                <a:lnTo>
                  <a:pt x="9220200" y="5350932"/>
                </a:lnTo>
                <a:lnTo>
                  <a:pt x="7298269" y="6883400"/>
                </a:lnTo>
                <a:lnTo>
                  <a:pt x="16935" y="6891867"/>
                </a:lnTo>
                <a:lnTo>
                  <a:pt x="0" y="0"/>
                </a:lnTo>
                <a:lnTo>
                  <a:pt x="8382001" y="8466"/>
                </a:lnTo>
                <a:close/>
              </a:path>
            </a:pathLst>
          </a:custGeom>
          <a:solidFill>
            <a:schemeClr val="tx1">
              <a:lumMod val="95000"/>
              <a:lumOff val="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4F0DEC84-2F43-43F9-9338-550212E2AE9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360612" y="0"/>
            <a:ext cx="2436813" cy="6858001"/>
            <a:chOff x="1320800" y="0"/>
            <a:chExt cx="2436813" cy="6858001"/>
          </a:xfrm>
        </p:grpSpPr>
        <p:sp>
          <p:nvSpPr>
            <p:cNvPr id="15" name="Freeform 6">
              <a:extLst>
                <a:ext uri="{FF2B5EF4-FFF2-40B4-BE49-F238E27FC236}">
                  <a16:creationId xmlns:a16="http://schemas.microsoft.com/office/drawing/2014/main" id="{59A82642-82AA-4335-82DC-AF3E936B3B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16" name="Freeform 7">
              <a:extLst>
                <a:ext uri="{FF2B5EF4-FFF2-40B4-BE49-F238E27FC236}">
                  <a16:creationId xmlns:a16="http://schemas.microsoft.com/office/drawing/2014/main" id="{BDA76F4B-391C-4936-A84F-7FE8C41694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7" name="Freeform 8">
              <a:extLst>
                <a:ext uri="{FF2B5EF4-FFF2-40B4-BE49-F238E27FC236}">
                  <a16:creationId xmlns:a16="http://schemas.microsoft.com/office/drawing/2014/main" id="{3575DE21-561B-48B0-8676-5DEA0B11E0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8" name="Freeform 9">
              <a:extLst>
                <a:ext uri="{FF2B5EF4-FFF2-40B4-BE49-F238E27FC236}">
                  <a16:creationId xmlns:a16="http://schemas.microsoft.com/office/drawing/2014/main" id="{1DF468A8-0850-45A2-9BB3-E799429FED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9" name="Freeform 10">
              <a:extLst>
                <a:ext uri="{FF2B5EF4-FFF2-40B4-BE49-F238E27FC236}">
                  <a16:creationId xmlns:a16="http://schemas.microsoft.com/office/drawing/2014/main" id="{6696D92D-6927-44FE-87EE-B82A12AC3C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20" name="Freeform 11">
              <a:extLst>
                <a:ext uri="{FF2B5EF4-FFF2-40B4-BE49-F238E27FC236}">
                  <a16:creationId xmlns:a16="http://schemas.microsoft.com/office/drawing/2014/main" id="{2C7A109D-FAAC-4825-B47F-66DAA52B24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3" name="Content Placeholder 2">
            <a:extLst>
              <a:ext uri="{FF2B5EF4-FFF2-40B4-BE49-F238E27FC236}">
                <a16:creationId xmlns:a16="http://schemas.microsoft.com/office/drawing/2014/main" id="{E3869F11-F2D4-A041-61FD-CA3EB7D137F0}"/>
              </a:ext>
            </a:extLst>
          </p:cNvPr>
          <p:cNvSpPr>
            <a:spLocks noGrp="1"/>
          </p:cNvSpPr>
          <p:nvPr>
            <p:ph idx="1"/>
          </p:nvPr>
        </p:nvSpPr>
        <p:spPr>
          <a:xfrm>
            <a:off x="3842270" y="263745"/>
            <a:ext cx="8352197" cy="6301436"/>
          </a:xfrm>
        </p:spPr>
        <p:txBody>
          <a:bodyPr vert="horz" lIns="91440" tIns="45720" rIns="91440" bIns="45720" rtlCol="0">
            <a:normAutofit/>
          </a:bodyPr>
          <a:lstStyle/>
          <a:p>
            <a:pPr marL="0" indent="0">
              <a:lnSpc>
                <a:spcPct val="90000"/>
              </a:lnSpc>
              <a:buNone/>
            </a:pPr>
            <a:r>
              <a:rPr lang="en-US" sz="2000" dirty="0">
                <a:solidFill>
                  <a:schemeClr val="bg1"/>
                </a:solidFill>
                <a:latin typeface="Times New Roman"/>
                <a:ea typeface="+mn-lt"/>
                <a:cs typeface="+mn-lt"/>
              </a:rPr>
              <a:t>I have based my research on data from World Health Organization(WHO).</a:t>
            </a:r>
            <a:endParaRPr lang="en-US" sz="2000" dirty="0">
              <a:solidFill>
                <a:schemeClr val="bg1"/>
              </a:solidFill>
              <a:latin typeface="Times New Roman"/>
              <a:ea typeface="+mn-lt"/>
              <a:cs typeface="Times New Roman"/>
            </a:endParaRPr>
          </a:p>
          <a:p>
            <a:pPr marL="0" indent="0">
              <a:lnSpc>
                <a:spcPct val="90000"/>
              </a:lnSpc>
              <a:buClr>
                <a:srgbClr val="B96C11"/>
              </a:buClr>
              <a:buNone/>
            </a:pPr>
            <a:r>
              <a:rPr lang="en-US" sz="2000" dirty="0">
                <a:solidFill>
                  <a:schemeClr val="bg1"/>
                </a:solidFill>
                <a:latin typeface="Times New Roman"/>
                <a:ea typeface="+mn-lt"/>
                <a:cs typeface="+mn-lt"/>
              </a:rPr>
              <a:t>I investigated and found patterns and trends countries in various locations across the World.</a:t>
            </a:r>
            <a:endParaRPr lang="en-US" sz="2000" dirty="0">
              <a:solidFill>
                <a:schemeClr val="bg1"/>
              </a:solidFill>
              <a:latin typeface="Times New Roman"/>
              <a:ea typeface="+mn-lt"/>
              <a:cs typeface="Times New Roman"/>
            </a:endParaRPr>
          </a:p>
          <a:p>
            <a:pPr marL="0" indent="0">
              <a:lnSpc>
                <a:spcPct val="90000"/>
              </a:lnSpc>
              <a:buClr>
                <a:srgbClr val="B96C11"/>
              </a:buClr>
              <a:buNone/>
            </a:pPr>
            <a:r>
              <a:rPr lang="en-US" sz="2000" dirty="0" err="1">
                <a:solidFill>
                  <a:schemeClr val="bg1"/>
                </a:solidFill>
                <a:latin typeface="Times New Roman"/>
                <a:ea typeface="+mn-lt"/>
                <a:cs typeface="+mn-lt"/>
              </a:rPr>
              <a:t>Analysing</a:t>
            </a:r>
            <a:r>
              <a:rPr lang="en-US" sz="2000" dirty="0">
                <a:solidFill>
                  <a:schemeClr val="bg1"/>
                </a:solidFill>
                <a:latin typeface="Times New Roman"/>
                <a:ea typeface="+mn-lt"/>
                <a:cs typeface="+mn-lt"/>
              </a:rPr>
              <a:t> 2904 rows of data, I saw patterns of Life expectancy and Healthy Life expectancy at birth (HALE) throughout the whole regions.</a:t>
            </a:r>
            <a:endParaRPr lang="en-US" sz="2000" dirty="0">
              <a:solidFill>
                <a:schemeClr val="bg1"/>
              </a:solidFill>
              <a:latin typeface="Times New Roman"/>
              <a:ea typeface="+mn-lt"/>
              <a:cs typeface="Times New Roman"/>
            </a:endParaRPr>
          </a:p>
          <a:p>
            <a:pPr marL="0" indent="0">
              <a:lnSpc>
                <a:spcPct val="90000"/>
              </a:lnSpc>
              <a:buNone/>
            </a:pPr>
            <a:r>
              <a:rPr lang="en-US" sz="2000" dirty="0">
                <a:solidFill>
                  <a:schemeClr val="bg1"/>
                </a:solidFill>
                <a:latin typeface="Times New Roman"/>
                <a:ea typeface="+mn-lt"/>
                <a:cs typeface="+mn-lt"/>
              </a:rPr>
              <a:t>"Life expectancy" refers to the number of years a person can expect to live. </a:t>
            </a:r>
          </a:p>
          <a:p>
            <a:pPr marL="0" indent="0">
              <a:lnSpc>
                <a:spcPct val="90000"/>
              </a:lnSpc>
              <a:buNone/>
            </a:pPr>
            <a:r>
              <a:rPr lang="en-US" sz="2000" dirty="0">
                <a:solidFill>
                  <a:schemeClr val="bg1"/>
                </a:solidFill>
                <a:latin typeface="Times New Roman"/>
                <a:ea typeface="+mn-lt"/>
                <a:cs typeface="+mn-lt"/>
              </a:rPr>
              <a:t>It is an important way of assessing the health of a population and is used to inform health policy and initiatives that impact everyday life.</a:t>
            </a:r>
            <a:endParaRPr lang="en-US">
              <a:solidFill>
                <a:schemeClr val="bg1"/>
              </a:solidFill>
            </a:endParaRPr>
          </a:p>
          <a:p>
            <a:pPr marL="0" indent="0">
              <a:lnSpc>
                <a:spcPct val="90000"/>
              </a:lnSpc>
              <a:buNone/>
            </a:pPr>
            <a:r>
              <a:rPr lang="en-US" sz="2000" dirty="0">
                <a:solidFill>
                  <a:schemeClr val="bg1"/>
                </a:solidFill>
                <a:latin typeface="Times New Roman"/>
                <a:ea typeface="+mn-lt"/>
                <a:cs typeface="+mn-lt"/>
              </a:rPr>
              <a:t>"Life expectancy at birth" is the average number of years that a newborn could expect to live, while "Healthy life expectancy (HALE) at birth" is the average number of years that a person could expect to live in "full health" from birth. This measurement takes into account years lived in less than full health due to disease and/or injury.</a:t>
            </a:r>
            <a:endParaRPr lang="en-US" sz="2000" dirty="0">
              <a:solidFill>
                <a:schemeClr val="bg1"/>
              </a:solidFill>
              <a:latin typeface="Times New Roman"/>
            </a:endParaRPr>
          </a:p>
        </p:txBody>
      </p:sp>
    </p:spTree>
    <p:extLst>
      <p:ext uri="{BB962C8B-B14F-4D97-AF65-F5344CB8AC3E}">
        <p14:creationId xmlns:p14="http://schemas.microsoft.com/office/powerpoint/2010/main" val="6742168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pic>
        <p:nvPicPr>
          <p:cNvPr id="4" name="Picture 3" descr="A group of people walking&#10;&#10;Description automatically generated">
            <a:extLst>
              <a:ext uri="{FF2B5EF4-FFF2-40B4-BE49-F238E27FC236}">
                <a16:creationId xmlns:a16="http://schemas.microsoft.com/office/drawing/2014/main" id="{9C0C3ECA-F895-2B05-4A34-9234AEBC0CE7}"/>
              </a:ext>
            </a:extLst>
          </p:cNvPr>
          <p:cNvPicPr>
            <a:picLocks noChangeAspect="1"/>
          </p:cNvPicPr>
          <p:nvPr/>
        </p:nvPicPr>
        <p:blipFill>
          <a:blip r:embed="rId3">
            <a:duotone>
              <a:schemeClr val="bg2">
                <a:shade val="45000"/>
                <a:satMod val="135000"/>
              </a:schemeClr>
              <a:prstClr val="white"/>
            </a:duotone>
            <a:alphaModFix amt="21000"/>
            <a:extLst>
              <a:ext uri="{837473B0-CC2E-450A-ABE3-18F120FF3D39}">
                <a1611:picAttrSrcUrl xmlns:a1611="http://schemas.microsoft.com/office/drawing/2016/11/main" r:id="rId4"/>
              </a:ext>
            </a:extLst>
          </a:blip>
          <a:srcRect l="10405" r="10040" b="1"/>
          <a:stretch/>
        </p:blipFill>
        <p:spPr>
          <a:xfrm>
            <a:off x="20" y="255075"/>
            <a:ext cx="12191980" cy="6857990"/>
          </a:xfrm>
          <a:prstGeom prst="rect">
            <a:avLst/>
          </a:prstGeom>
        </p:spPr>
      </p:pic>
      <p:grpSp>
        <p:nvGrpSpPr>
          <p:cNvPr id="31" name="Group 30">
            <a:extLst>
              <a:ext uri="{FF2B5EF4-FFF2-40B4-BE49-F238E27FC236}">
                <a16:creationId xmlns:a16="http://schemas.microsoft.com/office/drawing/2014/main" id="{2DAE90E3-8F91-4218-8153-F632799FB07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0812" y="0"/>
            <a:ext cx="2436813" cy="6858001"/>
            <a:chOff x="1320800" y="0"/>
            <a:chExt cx="2436813" cy="6858001"/>
          </a:xfrm>
        </p:grpSpPr>
        <p:sp>
          <p:nvSpPr>
            <p:cNvPr id="32" name="Freeform 6">
              <a:extLst>
                <a:ext uri="{FF2B5EF4-FFF2-40B4-BE49-F238E27FC236}">
                  <a16:creationId xmlns:a16="http://schemas.microsoft.com/office/drawing/2014/main" id="{C1DC6993-96FE-4235-985E-52489B4237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33" name="Freeform 7">
              <a:extLst>
                <a:ext uri="{FF2B5EF4-FFF2-40B4-BE49-F238E27FC236}">
                  <a16:creationId xmlns:a16="http://schemas.microsoft.com/office/drawing/2014/main" id="{76D3DE8D-3DEC-4FF8-B4FC-1DAB203644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34" name="Freeform 8">
              <a:extLst>
                <a:ext uri="{FF2B5EF4-FFF2-40B4-BE49-F238E27FC236}">
                  <a16:creationId xmlns:a16="http://schemas.microsoft.com/office/drawing/2014/main" id="{679297AF-1418-41DB-A81A-D77E0CAF49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35" name="Freeform 9">
              <a:extLst>
                <a:ext uri="{FF2B5EF4-FFF2-40B4-BE49-F238E27FC236}">
                  <a16:creationId xmlns:a16="http://schemas.microsoft.com/office/drawing/2014/main" id="{F6AD388B-2E71-431B-90AB-B2F71F9F9D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36" name="Freeform 10">
              <a:extLst>
                <a:ext uri="{FF2B5EF4-FFF2-40B4-BE49-F238E27FC236}">
                  <a16:creationId xmlns:a16="http://schemas.microsoft.com/office/drawing/2014/main" id="{FA9972D4-1E8B-4A06-BD7C-B5140A3895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37" name="Freeform 11">
              <a:extLst>
                <a:ext uri="{FF2B5EF4-FFF2-40B4-BE49-F238E27FC236}">
                  <a16:creationId xmlns:a16="http://schemas.microsoft.com/office/drawing/2014/main" id="{528281FC-5068-4A18-832D-B47A0F1AC6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3" name="Content Placeholder 2">
            <a:extLst>
              <a:ext uri="{FF2B5EF4-FFF2-40B4-BE49-F238E27FC236}">
                <a16:creationId xmlns:a16="http://schemas.microsoft.com/office/drawing/2014/main" id="{69C50769-60F6-321E-EAE6-4FBFE1006E44}"/>
              </a:ext>
            </a:extLst>
          </p:cNvPr>
          <p:cNvSpPr>
            <a:spLocks noGrp="1"/>
          </p:cNvSpPr>
          <p:nvPr>
            <p:ph idx="1"/>
          </p:nvPr>
        </p:nvSpPr>
        <p:spPr>
          <a:xfrm>
            <a:off x="1858124" y="1164246"/>
            <a:ext cx="10332085" cy="5429956"/>
          </a:xfrm>
        </p:spPr>
        <p:txBody>
          <a:bodyPr vert="horz" lIns="91440" tIns="45720" rIns="91440" bIns="45720" rtlCol="0" anchor="ctr">
            <a:noAutofit/>
          </a:bodyPr>
          <a:lstStyle/>
          <a:p>
            <a:pPr marL="0" indent="0">
              <a:lnSpc>
                <a:spcPct val="90000"/>
              </a:lnSpc>
              <a:buNone/>
            </a:pPr>
            <a:endParaRPr lang="en-US" sz="2000" b="1">
              <a:latin typeface="Times New Roman"/>
              <a:cs typeface="Times New Roman"/>
            </a:endParaRPr>
          </a:p>
          <a:p>
            <a:pPr marL="0" indent="0">
              <a:lnSpc>
                <a:spcPct val="90000"/>
              </a:lnSpc>
              <a:buNone/>
            </a:pPr>
            <a:endParaRPr lang="en-US" sz="2000" b="1">
              <a:latin typeface="Times New Roman"/>
              <a:cs typeface="Times New Roman"/>
            </a:endParaRPr>
          </a:p>
          <a:p>
            <a:pPr marL="0" indent="0">
              <a:lnSpc>
                <a:spcPct val="90000"/>
              </a:lnSpc>
              <a:buNone/>
            </a:pPr>
            <a:endParaRPr lang="en-US" sz="2000" b="1" dirty="0">
              <a:latin typeface="Times New Roman"/>
              <a:cs typeface="Times New Roman"/>
            </a:endParaRPr>
          </a:p>
          <a:p>
            <a:pPr marL="0" indent="0">
              <a:lnSpc>
                <a:spcPct val="90000"/>
              </a:lnSpc>
              <a:buNone/>
            </a:pPr>
            <a:r>
              <a:rPr lang="en-US" b="1" dirty="0">
                <a:latin typeface="Times New Roman"/>
                <a:cs typeface="Times New Roman"/>
              </a:rPr>
              <a:t>A visual analysis of two datasets:</a:t>
            </a:r>
            <a:r>
              <a:rPr lang="en-US" b="1" dirty="0">
                <a:solidFill>
                  <a:schemeClr val="tx1">
                    <a:lumMod val="65000"/>
                    <a:lumOff val="35000"/>
                  </a:schemeClr>
                </a:solidFill>
                <a:latin typeface="Times New Roman"/>
                <a:cs typeface="Times New Roman"/>
              </a:rPr>
              <a:t> Life Expectancy </a:t>
            </a:r>
            <a:endParaRPr lang="en-US" dirty="0">
              <a:solidFill>
                <a:schemeClr val="tx1">
                  <a:lumMod val="65000"/>
                  <a:lumOff val="35000"/>
                </a:schemeClr>
              </a:solidFill>
              <a:latin typeface="Times New Roman"/>
              <a:cs typeface="Times New Roman"/>
            </a:endParaRPr>
          </a:p>
          <a:p>
            <a:pPr marL="0" indent="0">
              <a:lnSpc>
                <a:spcPct val="90000"/>
              </a:lnSpc>
              <a:buNone/>
            </a:pPr>
            <a:r>
              <a:rPr lang="en-US" b="1" dirty="0">
                <a:latin typeface="Times New Roman"/>
                <a:cs typeface="Times New Roman"/>
              </a:rPr>
              <a:t>       &amp;  </a:t>
            </a:r>
            <a:r>
              <a:rPr lang="en-US" b="1" dirty="0">
                <a:solidFill>
                  <a:schemeClr val="accent1"/>
                </a:solidFill>
                <a:latin typeface="Times New Roman"/>
                <a:cs typeface="Times New Roman"/>
              </a:rPr>
              <a:t>Healthy Life Expectancy at birth</a:t>
            </a:r>
            <a:r>
              <a:rPr lang="en-US" b="1" dirty="0">
                <a:latin typeface="Times New Roman"/>
                <a:cs typeface="Times New Roman"/>
              </a:rPr>
              <a:t> between 2000-2021</a:t>
            </a:r>
            <a:endParaRPr lang="en-US" dirty="0">
              <a:latin typeface="Times New Roman"/>
              <a:cs typeface="Times New Roman"/>
            </a:endParaRPr>
          </a:p>
          <a:p>
            <a:pPr>
              <a:buNone/>
            </a:pPr>
            <a:r>
              <a:rPr lang="en-US" sz="2000" dirty="0">
                <a:latin typeface="Times New Roman"/>
                <a:cs typeface="Times New Roman"/>
              </a:rPr>
              <a:t>Project overview:</a:t>
            </a:r>
          </a:p>
          <a:p>
            <a:pPr marL="457200" indent="-457200">
              <a:lnSpc>
                <a:spcPct val="120000"/>
              </a:lnSpc>
              <a:buAutoNum type="arabicPeriod"/>
            </a:pPr>
            <a:r>
              <a:rPr lang="en-US" sz="1800" b="1" dirty="0">
                <a:latin typeface="Times New Roman"/>
                <a:cs typeface="Times New Roman"/>
              </a:rPr>
              <a:t>Merging</a:t>
            </a:r>
            <a:r>
              <a:rPr lang="en-US" sz="1800" dirty="0">
                <a:latin typeface="Times New Roman"/>
                <a:cs typeface="Times New Roman"/>
              </a:rPr>
              <a:t> the two </a:t>
            </a:r>
            <a:r>
              <a:rPr lang="en-GB" sz="1800" dirty="0" err="1">
                <a:latin typeface="Times New Roman"/>
                <a:cs typeface="Times New Roman"/>
              </a:rPr>
              <a:t>dataframes</a:t>
            </a:r>
            <a:r>
              <a:rPr lang="en-US" sz="1800" dirty="0">
                <a:latin typeface="Times New Roman"/>
                <a:cs typeface="Times New Roman"/>
              </a:rPr>
              <a:t> for a better </a:t>
            </a:r>
            <a:r>
              <a:rPr lang="en-US" sz="1800" dirty="0" err="1">
                <a:latin typeface="Times New Roman"/>
                <a:cs typeface="Times New Roman"/>
              </a:rPr>
              <a:t>visualisation</a:t>
            </a:r>
            <a:r>
              <a:rPr lang="en-US" sz="1800" dirty="0">
                <a:latin typeface="Times New Roman"/>
                <a:cs typeface="Times New Roman"/>
              </a:rPr>
              <a:t> and comparison</a:t>
            </a:r>
          </a:p>
          <a:p>
            <a:pPr marL="342900" indent="-342900">
              <a:lnSpc>
                <a:spcPct val="120000"/>
              </a:lnSpc>
              <a:buAutoNum type="arabicPeriod"/>
            </a:pPr>
            <a:r>
              <a:rPr lang="en-US" sz="1800" dirty="0">
                <a:latin typeface="Times New Roman"/>
                <a:cs typeface="Times New Roman"/>
              </a:rPr>
              <a:t> </a:t>
            </a:r>
            <a:r>
              <a:rPr lang="en-US" sz="1800" b="1">
                <a:latin typeface="Times New Roman"/>
                <a:cs typeface="Times New Roman"/>
              </a:rPr>
              <a:t>Gender</a:t>
            </a:r>
            <a:r>
              <a:rPr lang="en-US" sz="1800" dirty="0">
                <a:latin typeface="Times New Roman"/>
                <a:cs typeface="Times New Roman"/>
              </a:rPr>
              <a:t> grouped by </a:t>
            </a:r>
            <a:r>
              <a:rPr lang="en-US" sz="1800" b="1">
                <a:solidFill>
                  <a:schemeClr val="tx1">
                    <a:lumMod val="65000"/>
                    <a:lumOff val="35000"/>
                  </a:schemeClr>
                </a:solidFill>
                <a:latin typeface="Times New Roman"/>
                <a:cs typeface="Times New Roman"/>
              </a:rPr>
              <a:t>Life expectancy (at birth)</a:t>
            </a:r>
            <a:r>
              <a:rPr lang="en-US" sz="1800" b="1" dirty="0">
                <a:latin typeface="Times New Roman"/>
                <a:cs typeface="Times New Roman"/>
              </a:rPr>
              <a:t> </a:t>
            </a:r>
            <a:r>
              <a:rPr lang="en-US" sz="1800" dirty="0">
                <a:latin typeface="Times New Roman"/>
                <a:cs typeface="Times New Roman"/>
              </a:rPr>
              <a:t>and </a:t>
            </a:r>
            <a:r>
              <a:rPr lang="en-US" sz="1800" b="1" dirty="0">
                <a:solidFill>
                  <a:schemeClr val="accent1"/>
                </a:solidFill>
                <a:latin typeface="Times New Roman"/>
                <a:cs typeface="Times New Roman"/>
              </a:rPr>
              <a:t>Healthy life expectancy (at birth)</a:t>
            </a:r>
            <a:r>
              <a:rPr lang="en-US" sz="1800" dirty="0">
                <a:latin typeface="Times New Roman"/>
                <a:cs typeface="Times New Roman"/>
              </a:rPr>
              <a:t> mean and each category individually</a:t>
            </a:r>
          </a:p>
          <a:p>
            <a:pPr marL="342900" indent="-342900">
              <a:lnSpc>
                <a:spcPct val="120000"/>
              </a:lnSpc>
              <a:buAutoNum type="arabicPeriod"/>
            </a:pPr>
            <a:r>
              <a:rPr lang="en-US" sz="1800" b="1" dirty="0">
                <a:latin typeface="Times New Roman"/>
                <a:cs typeface="Times New Roman"/>
              </a:rPr>
              <a:t>Global</a:t>
            </a:r>
            <a:r>
              <a:rPr lang="en-US" sz="1800" dirty="0">
                <a:latin typeface="Times New Roman"/>
                <a:cs typeface="Times New Roman"/>
              </a:rPr>
              <a:t> analysis by </a:t>
            </a:r>
            <a:r>
              <a:rPr lang="en-US" sz="1800" b="1" dirty="0">
                <a:solidFill>
                  <a:schemeClr val="tx1">
                    <a:lumMod val="65000"/>
                    <a:lumOff val="35000"/>
                  </a:schemeClr>
                </a:solidFill>
                <a:latin typeface="Times New Roman"/>
                <a:cs typeface="Times New Roman"/>
              </a:rPr>
              <a:t>Life expectancy (at birth)</a:t>
            </a:r>
            <a:r>
              <a:rPr lang="en-US" sz="1800" dirty="0">
                <a:latin typeface="Times New Roman"/>
                <a:cs typeface="Times New Roman"/>
              </a:rPr>
              <a:t> and </a:t>
            </a:r>
            <a:r>
              <a:rPr lang="en-US" sz="1800" b="1" dirty="0">
                <a:solidFill>
                  <a:schemeClr val="accent1"/>
                </a:solidFill>
                <a:latin typeface="Times New Roman"/>
                <a:cs typeface="Times New Roman"/>
              </a:rPr>
              <a:t>Healthy life expectancy (at birth)</a:t>
            </a:r>
          </a:p>
          <a:p>
            <a:pPr marL="342900" indent="-342900">
              <a:lnSpc>
                <a:spcPct val="120000"/>
              </a:lnSpc>
              <a:buAutoNum type="arabicPeriod"/>
            </a:pPr>
            <a:r>
              <a:rPr lang="en-US" sz="1800" b="1" dirty="0">
                <a:latin typeface="Times New Roman"/>
                <a:cs typeface="Times New Roman"/>
              </a:rPr>
              <a:t>WHO regions </a:t>
            </a:r>
            <a:r>
              <a:rPr lang="en-US" sz="1800" dirty="0">
                <a:latin typeface="Times New Roman"/>
                <a:cs typeface="Times New Roman"/>
              </a:rPr>
              <a:t>by </a:t>
            </a:r>
            <a:r>
              <a:rPr lang="en-US" sz="1800" b="1" dirty="0">
                <a:solidFill>
                  <a:schemeClr val="tx1">
                    <a:lumMod val="65000"/>
                    <a:lumOff val="35000"/>
                  </a:schemeClr>
                </a:solidFill>
                <a:latin typeface="Times New Roman"/>
                <a:cs typeface="Times New Roman"/>
              </a:rPr>
              <a:t>Life expectancy (at birth)</a:t>
            </a:r>
            <a:r>
              <a:rPr lang="en-US" sz="1800" b="1" dirty="0">
                <a:latin typeface="Times New Roman"/>
                <a:cs typeface="Times New Roman"/>
              </a:rPr>
              <a:t> </a:t>
            </a:r>
            <a:r>
              <a:rPr lang="en-US" sz="1800" dirty="0">
                <a:latin typeface="Times New Roman"/>
                <a:cs typeface="Times New Roman"/>
              </a:rPr>
              <a:t>and </a:t>
            </a:r>
            <a:r>
              <a:rPr lang="en-US" sz="1800" b="1" dirty="0">
                <a:solidFill>
                  <a:schemeClr val="accent1"/>
                </a:solidFill>
                <a:latin typeface="Times New Roman"/>
                <a:cs typeface="Times New Roman"/>
              </a:rPr>
              <a:t>Healthy life expectancy (at birth)</a:t>
            </a:r>
          </a:p>
          <a:p>
            <a:pPr marL="342900" indent="-342900">
              <a:lnSpc>
                <a:spcPct val="120000"/>
              </a:lnSpc>
              <a:buAutoNum type="arabicPeriod"/>
            </a:pPr>
            <a:r>
              <a:rPr lang="en-US" sz="1800" err="1">
                <a:latin typeface="Times New Roman"/>
                <a:cs typeface="Times New Roman"/>
              </a:rPr>
              <a:t>Analysing</a:t>
            </a:r>
            <a:r>
              <a:rPr lang="en-US" sz="1800" dirty="0">
                <a:latin typeface="Times New Roman"/>
                <a:cs typeface="Times New Roman"/>
              </a:rPr>
              <a:t> and comparing </a:t>
            </a:r>
            <a:r>
              <a:rPr lang="en-US" sz="1800" b="1" dirty="0">
                <a:latin typeface="Times New Roman"/>
                <a:cs typeface="Times New Roman"/>
              </a:rPr>
              <a:t>WHO regions</a:t>
            </a:r>
            <a:r>
              <a:rPr lang="en-US" sz="1800" dirty="0">
                <a:latin typeface="Times New Roman"/>
                <a:cs typeface="Times New Roman"/>
              </a:rPr>
              <a:t> - </a:t>
            </a:r>
            <a:r>
              <a:rPr lang="en-US" sz="1800" b="1" dirty="0">
                <a:latin typeface="Times New Roman"/>
                <a:cs typeface="Times New Roman"/>
              </a:rPr>
              <a:t>Africa</a:t>
            </a:r>
            <a:r>
              <a:rPr lang="en-US" sz="1800" dirty="0">
                <a:latin typeface="Times New Roman"/>
                <a:cs typeface="Times New Roman"/>
              </a:rPr>
              <a:t> and </a:t>
            </a:r>
            <a:r>
              <a:rPr lang="en-US" sz="1800" b="1">
                <a:latin typeface="Times New Roman"/>
                <a:cs typeface="Times New Roman"/>
              </a:rPr>
              <a:t>Europe</a:t>
            </a:r>
            <a:endParaRPr lang="en-US" sz="2200" i="1">
              <a:latin typeface="Times New Roman"/>
              <a:cs typeface="Times New Roman"/>
            </a:endParaRPr>
          </a:p>
          <a:p>
            <a:pPr marL="342900" indent="-342900">
              <a:lnSpc>
                <a:spcPct val="120000"/>
              </a:lnSpc>
              <a:buClr>
                <a:srgbClr val="B96C11"/>
              </a:buClr>
              <a:buAutoNum type="arabicPeriod"/>
            </a:pPr>
            <a:r>
              <a:rPr lang="en-US" sz="1800" b="1" dirty="0">
                <a:latin typeface="Times New Roman"/>
                <a:cs typeface="Times New Roman"/>
              </a:rPr>
              <a:t>Top 10 Countries  </a:t>
            </a:r>
            <a:r>
              <a:rPr lang="en-US" sz="1800" b="1" dirty="0">
                <a:solidFill>
                  <a:schemeClr val="tx1">
                    <a:lumMod val="65000"/>
                    <a:lumOff val="35000"/>
                  </a:schemeClr>
                </a:solidFill>
                <a:latin typeface="Times New Roman"/>
                <a:cs typeface="Times New Roman"/>
              </a:rPr>
              <a:t>Life expectancy (at birth)</a:t>
            </a:r>
            <a:r>
              <a:rPr lang="en-US" sz="1800" dirty="0">
                <a:latin typeface="Times New Roman"/>
                <a:cs typeface="Times New Roman"/>
              </a:rPr>
              <a:t> years </a:t>
            </a:r>
            <a:r>
              <a:rPr lang="en-US" sz="1800" b="1" dirty="0">
                <a:latin typeface="Times New Roman"/>
                <a:cs typeface="Times New Roman"/>
              </a:rPr>
              <a:t>2000 &amp; 2021</a:t>
            </a:r>
            <a:endParaRPr lang="en-US" sz="1800" dirty="0">
              <a:latin typeface="Times New Roman"/>
              <a:cs typeface="Times New Roman"/>
            </a:endParaRPr>
          </a:p>
          <a:p>
            <a:pPr marL="342900" indent="-342900">
              <a:lnSpc>
                <a:spcPct val="120000"/>
              </a:lnSpc>
              <a:buAutoNum type="arabicPeriod"/>
            </a:pPr>
            <a:r>
              <a:rPr lang="en-US" sz="1800" b="1" dirty="0">
                <a:latin typeface="Times New Roman"/>
                <a:cs typeface="Times New Roman"/>
              </a:rPr>
              <a:t>World Bank Income Group </a:t>
            </a:r>
            <a:r>
              <a:rPr lang="en-US" sz="1800" dirty="0">
                <a:latin typeface="Times New Roman"/>
                <a:cs typeface="Times New Roman"/>
              </a:rPr>
              <a:t>regions analysis</a:t>
            </a:r>
          </a:p>
          <a:p>
            <a:pPr marL="342900" indent="-342900">
              <a:lnSpc>
                <a:spcPct val="120000"/>
              </a:lnSpc>
              <a:buAutoNum type="arabicPeriod"/>
            </a:pPr>
            <a:r>
              <a:rPr lang="en-US" sz="1800" b="1" dirty="0">
                <a:latin typeface="Times New Roman"/>
                <a:cs typeface="Times New Roman"/>
              </a:rPr>
              <a:t>National liberation movement and organized, unincorporated territories</a:t>
            </a:r>
          </a:p>
          <a:p>
            <a:pPr marL="342900" indent="-342900">
              <a:lnSpc>
                <a:spcPct val="120000"/>
              </a:lnSpc>
              <a:buClr>
                <a:srgbClr val="B96C11"/>
              </a:buClr>
              <a:buAutoNum type="arabicPeriod"/>
            </a:pPr>
            <a:r>
              <a:rPr lang="en-US" sz="1800" b="1" dirty="0">
                <a:latin typeface="Times New Roman"/>
                <a:cs typeface="Times New Roman"/>
              </a:rPr>
              <a:t> Poor health according to </a:t>
            </a:r>
            <a:r>
              <a:rPr lang="en-US" sz="1800" b="1" dirty="0">
                <a:solidFill>
                  <a:schemeClr val="tx1">
                    <a:lumMod val="65000"/>
                    <a:lumOff val="35000"/>
                  </a:schemeClr>
                </a:solidFill>
                <a:latin typeface="Times New Roman"/>
                <a:cs typeface="Times New Roman"/>
              </a:rPr>
              <a:t>Life expectancy (at birth) </a:t>
            </a:r>
            <a:r>
              <a:rPr lang="en-US" sz="1800" b="1" dirty="0">
                <a:latin typeface="Times New Roman"/>
                <a:cs typeface="Times New Roman"/>
              </a:rPr>
              <a:t>and </a:t>
            </a:r>
            <a:r>
              <a:rPr lang="en-US" sz="1800" b="1" dirty="0">
                <a:solidFill>
                  <a:schemeClr val="accent1"/>
                </a:solidFill>
                <a:latin typeface="Times New Roman"/>
                <a:cs typeface="Times New Roman"/>
              </a:rPr>
              <a:t>Healthy life expectancy at birth</a:t>
            </a:r>
            <a:endParaRPr lang="en-US" sz="1800" dirty="0">
              <a:solidFill>
                <a:schemeClr val="accent1"/>
              </a:solidFill>
              <a:latin typeface="Corbel" panose="020B0503020204020204"/>
              <a:cs typeface="Times New Roman"/>
            </a:endParaRPr>
          </a:p>
          <a:p>
            <a:pPr marL="0" indent="0">
              <a:lnSpc>
                <a:spcPct val="120000"/>
              </a:lnSpc>
              <a:buClr>
                <a:srgbClr val="B96C11"/>
              </a:buClr>
              <a:buNone/>
            </a:pPr>
            <a:r>
              <a:rPr lang="en-US" sz="1800" b="1" dirty="0">
                <a:latin typeface="Times New Roman"/>
                <a:cs typeface="Times New Roman"/>
              </a:rPr>
              <a:t>       Conclusion</a:t>
            </a:r>
            <a:endParaRPr lang="en-US" sz="1800" dirty="0">
              <a:latin typeface="Corbel" panose="020B0503020204020204"/>
              <a:cs typeface="Times New Roman"/>
            </a:endParaRPr>
          </a:p>
          <a:p>
            <a:pPr marL="0" indent="0">
              <a:lnSpc>
                <a:spcPct val="90000"/>
              </a:lnSpc>
              <a:buNone/>
            </a:pPr>
            <a:endParaRPr lang="en-US" sz="2000" b="1">
              <a:latin typeface="Times New Roman"/>
              <a:cs typeface="Times New Roman"/>
            </a:endParaRPr>
          </a:p>
          <a:p>
            <a:pPr marL="342900" indent="-342900">
              <a:lnSpc>
                <a:spcPct val="90000"/>
              </a:lnSpc>
              <a:buAutoNum type="arabicPeriod"/>
            </a:pPr>
            <a:endParaRPr lang="en-US" sz="1100"/>
          </a:p>
          <a:p>
            <a:pPr marL="342900" indent="-342900">
              <a:lnSpc>
                <a:spcPct val="90000"/>
              </a:lnSpc>
              <a:buAutoNum type="arabicPeriod"/>
            </a:pPr>
            <a:endParaRPr lang="en-US" sz="1100" b="1"/>
          </a:p>
          <a:p>
            <a:pPr marL="0" indent="0">
              <a:lnSpc>
                <a:spcPct val="90000"/>
              </a:lnSpc>
              <a:buAutoNum type="arabicPeriod"/>
            </a:pPr>
            <a:endParaRPr lang="en-US" sz="1100" b="1"/>
          </a:p>
          <a:p>
            <a:pPr marL="342900" indent="-342900">
              <a:lnSpc>
                <a:spcPct val="90000"/>
              </a:lnSpc>
              <a:buAutoNum type="arabicPeriod"/>
            </a:pPr>
            <a:endParaRPr lang="en-US" sz="1100"/>
          </a:p>
          <a:p>
            <a:pPr marL="342900" indent="-342900">
              <a:lnSpc>
                <a:spcPct val="90000"/>
              </a:lnSpc>
              <a:buAutoNum type="arabicPeriod"/>
            </a:pPr>
            <a:endParaRPr lang="en-US" sz="1100"/>
          </a:p>
          <a:p>
            <a:pPr marL="342900" indent="-342900">
              <a:lnSpc>
                <a:spcPct val="90000"/>
              </a:lnSpc>
              <a:buAutoNum type="arabicPeriod"/>
            </a:pPr>
            <a:endParaRPr lang="en-US" sz="1100"/>
          </a:p>
          <a:p>
            <a:pPr marL="342900" indent="-342900">
              <a:lnSpc>
                <a:spcPct val="90000"/>
              </a:lnSpc>
              <a:buAutoNum type="arabicPeriod"/>
            </a:pPr>
            <a:endParaRPr lang="en-US" sz="1100"/>
          </a:p>
        </p:txBody>
      </p:sp>
    </p:spTree>
    <p:extLst>
      <p:ext uri="{BB962C8B-B14F-4D97-AF65-F5344CB8AC3E}">
        <p14:creationId xmlns:p14="http://schemas.microsoft.com/office/powerpoint/2010/main" val="4445678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C616B3DC-C165-433D-9187-62DCC0E317D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6100" y="-4763"/>
            <a:ext cx="5014912" cy="6862763"/>
            <a:chOff x="2928938" y="-4763"/>
            <a:chExt cx="5014912" cy="6862763"/>
          </a:xfrm>
        </p:grpSpPr>
        <p:sp>
          <p:nvSpPr>
            <p:cNvPr id="11" name="Freeform 6">
              <a:extLst>
                <a:ext uri="{FF2B5EF4-FFF2-40B4-BE49-F238E27FC236}">
                  <a16:creationId xmlns:a16="http://schemas.microsoft.com/office/drawing/2014/main" id="{97E1BF84-9824-4B0E-98DF-F0F7181DD0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19" name="Freeform 7">
              <a:extLst>
                <a:ext uri="{FF2B5EF4-FFF2-40B4-BE49-F238E27FC236}">
                  <a16:creationId xmlns:a16="http://schemas.microsoft.com/office/drawing/2014/main" id="{A85FA340-7392-4303-9707-A12F45A46F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13" name="Freeform 9">
              <a:extLst>
                <a:ext uri="{FF2B5EF4-FFF2-40B4-BE49-F238E27FC236}">
                  <a16:creationId xmlns:a16="http://schemas.microsoft.com/office/drawing/2014/main" id="{758A9051-2BD9-4868-8B84-344752FA2F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14" name="Freeform 10">
              <a:extLst>
                <a:ext uri="{FF2B5EF4-FFF2-40B4-BE49-F238E27FC236}">
                  <a16:creationId xmlns:a16="http://schemas.microsoft.com/office/drawing/2014/main" id="{58264C49-3539-4CBD-8F11-1106C8B878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15" name="Freeform 11">
              <a:extLst>
                <a:ext uri="{FF2B5EF4-FFF2-40B4-BE49-F238E27FC236}">
                  <a16:creationId xmlns:a16="http://schemas.microsoft.com/office/drawing/2014/main" id="{DE862133-5C7E-4B32-9786-0B33BC51A7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16" name="Freeform 12">
              <a:extLst>
                <a:ext uri="{FF2B5EF4-FFF2-40B4-BE49-F238E27FC236}">
                  <a16:creationId xmlns:a16="http://schemas.microsoft.com/office/drawing/2014/main" id="{90925F6C-DF03-4707-9176-6049F049B5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a:extLst>
              <a:ext uri="{FF2B5EF4-FFF2-40B4-BE49-F238E27FC236}">
                <a16:creationId xmlns:a16="http://schemas.microsoft.com/office/drawing/2014/main" id="{EF7D974B-58FA-2A3F-2CD8-AF0D984DEF94}"/>
              </a:ext>
            </a:extLst>
          </p:cNvPr>
          <p:cNvSpPr>
            <a:spLocks noGrp="1"/>
          </p:cNvSpPr>
          <p:nvPr>
            <p:ph type="title"/>
          </p:nvPr>
        </p:nvSpPr>
        <p:spPr>
          <a:xfrm>
            <a:off x="4597399" y="3753869"/>
            <a:ext cx="7314845" cy="2538313"/>
          </a:xfrm>
        </p:spPr>
        <p:txBody>
          <a:bodyPr vert="horz" lIns="91440" tIns="45720" rIns="91440" bIns="45720" rtlCol="0" anchor="b">
            <a:noAutofit/>
          </a:bodyPr>
          <a:lstStyle/>
          <a:p>
            <a:pPr marL="285750" indent="-285750" algn="l">
              <a:lnSpc>
                <a:spcPct val="90000"/>
              </a:lnSpc>
              <a:spcBef>
                <a:spcPct val="20000"/>
              </a:spcBef>
              <a:spcAft>
                <a:spcPts val="600"/>
              </a:spcAft>
              <a:buFont typeface="Arial"/>
              <a:buChar char="•"/>
            </a:pPr>
            <a:r>
              <a:rPr lang="en-US" sz="2400" dirty="0">
                <a:solidFill>
                  <a:schemeClr val="tx1">
                    <a:lumMod val="65000"/>
                    <a:lumOff val="35000"/>
                  </a:schemeClr>
                </a:solidFill>
                <a:latin typeface="Times New Roman"/>
                <a:cs typeface="Times New Roman"/>
              </a:rPr>
              <a:t>Average life expectancy and healthy life expectancy are both important headline measures of the health status of the population. </a:t>
            </a:r>
          </a:p>
          <a:p>
            <a:pPr marL="285750" indent="-285750" algn="l">
              <a:lnSpc>
                <a:spcPct val="90000"/>
              </a:lnSpc>
              <a:spcBef>
                <a:spcPct val="20000"/>
              </a:spcBef>
              <a:spcAft>
                <a:spcPts val="600"/>
              </a:spcAft>
              <a:buFont typeface="Arial"/>
              <a:buChar char="•"/>
            </a:pPr>
            <a:r>
              <a:rPr lang="en-US" sz="2400" dirty="0">
                <a:solidFill>
                  <a:schemeClr val="accent1"/>
                </a:solidFill>
                <a:latin typeface="Times New Roman"/>
                <a:cs typeface="Times New Roman"/>
              </a:rPr>
              <a:t>The healthy life expectancy measure adds a ‘quality of life’ dimension to estimates of life expectancy by dividing it into time spent in different states of health. </a:t>
            </a:r>
          </a:p>
        </p:txBody>
      </p:sp>
      <p:sp>
        <p:nvSpPr>
          <p:cNvPr id="18" name="Rounded Rectangle 6">
            <a:extLst>
              <a:ext uri="{FF2B5EF4-FFF2-40B4-BE49-F238E27FC236}">
                <a16:creationId xmlns:a16="http://schemas.microsoft.com/office/drawing/2014/main" id="{EF3E1F0C-BCD9-491F-A435-D4A48FB439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609600"/>
            <a:ext cx="7833360" cy="3139440"/>
          </a:xfrm>
          <a:prstGeom prst="roundRect">
            <a:avLst>
              <a:gd name="adj" fmla="val 4834"/>
            </a:avLst>
          </a:prstGeom>
          <a:solidFill>
            <a:schemeClr val="bg1"/>
          </a:solidFill>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618D016C-5DC1-47D2-F191-EAC3CA1F764A}"/>
              </a:ext>
            </a:extLst>
          </p:cNvPr>
          <p:cNvSpPr>
            <a:spLocks noGrp="1"/>
          </p:cNvSpPr>
          <p:nvPr>
            <p:ph idx="1"/>
          </p:nvPr>
        </p:nvSpPr>
        <p:spPr>
          <a:xfrm>
            <a:off x="4135866" y="413748"/>
            <a:ext cx="7784099" cy="3572828"/>
          </a:xfrm>
        </p:spPr>
        <p:txBody>
          <a:bodyPr>
            <a:normAutofit fontScale="92500" lnSpcReduction="20000"/>
          </a:bodyPr>
          <a:lstStyle/>
          <a:p>
            <a:pPr marL="0" indent="0">
              <a:buNone/>
            </a:pPr>
            <a:endParaRPr lang="en-US">
              <a:solidFill>
                <a:schemeClr val="tx1">
                  <a:lumMod val="65000"/>
                  <a:lumOff val="35000"/>
                </a:schemeClr>
              </a:solidFill>
              <a:latin typeface="Times New Roman"/>
              <a:cs typeface="Times New Roman"/>
            </a:endParaRPr>
          </a:p>
          <a:p>
            <a:pPr marL="0" indent="0">
              <a:buNone/>
            </a:pPr>
            <a:r>
              <a:rPr lang="en-US" dirty="0">
                <a:solidFill>
                  <a:schemeClr val="tx1">
                    <a:lumMod val="65000"/>
                    <a:lumOff val="35000"/>
                  </a:schemeClr>
                </a:solidFill>
                <a:latin typeface="Times New Roman"/>
                <a:cs typeface="Times New Roman"/>
              </a:rPr>
              <a:t>Data</a:t>
            </a:r>
            <a:r>
              <a:rPr lang="en-US" dirty="0">
                <a:latin typeface="Times New Roman"/>
                <a:cs typeface="Times New Roman"/>
              </a:rPr>
              <a:t> </a:t>
            </a:r>
            <a:r>
              <a:rPr lang="en-US" dirty="0">
                <a:solidFill>
                  <a:schemeClr val="accent1"/>
                </a:solidFill>
                <a:latin typeface="Times New Roman"/>
                <a:cs typeface="Times New Roman"/>
              </a:rPr>
              <a:t>cleansing</a:t>
            </a:r>
            <a:r>
              <a:rPr lang="en-US" dirty="0">
                <a:solidFill>
                  <a:schemeClr val="accent1">
                    <a:lumMod val="76000"/>
                  </a:schemeClr>
                </a:solidFill>
                <a:latin typeface="Times New Roman"/>
                <a:cs typeface="Times New Roman"/>
              </a:rPr>
              <a:t> </a:t>
            </a:r>
            <a:r>
              <a:rPr lang="en-US" dirty="0">
                <a:solidFill>
                  <a:schemeClr val="tx1">
                    <a:lumMod val="65000"/>
                    <a:lumOff val="35000"/>
                  </a:schemeClr>
                </a:solidFill>
                <a:latin typeface="Times New Roman"/>
                <a:cs typeface="Times New Roman"/>
              </a:rPr>
              <a:t>steps:</a:t>
            </a:r>
            <a:endParaRPr lang="en-US" dirty="0">
              <a:solidFill>
                <a:schemeClr val="tx1">
                  <a:lumMod val="65000"/>
                  <a:lumOff val="35000"/>
                </a:schemeClr>
              </a:solidFill>
            </a:endParaRPr>
          </a:p>
          <a:p>
            <a:pPr marL="0" indent="0">
              <a:buNone/>
            </a:pPr>
            <a:endParaRPr lang="en-US" sz="2000">
              <a:solidFill>
                <a:schemeClr val="tx1">
                  <a:lumMod val="65000"/>
                  <a:lumOff val="35000"/>
                </a:schemeClr>
              </a:solidFill>
              <a:latin typeface="Times New Roman"/>
              <a:cs typeface="Times New Roman"/>
            </a:endParaRPr>
          </a:p>
          <a:p>
            <a:pPr marL="0" indent="0">
              <a:buNone/>
            </a:pPr>
            <a:r>
              <a:rPr lang="en-US" sz="2000" dirty="0">
                <a:solidFill>
                  <a:schemeClr val="tx1">
                    <a:lumMod val="65000"/>
                    <a:lumOff val="35000"/>
                  </a:schemeClr>
                </a:solidFill>
                <a:latin typeface="Times New Roman"/>
                <a:cs typeface="Times New Roman"/>
              </a:rPr>
              <a:t>Original Datasets</a:t>
            </a:r>
            <a:r>
              <a:rPr lang="en-US" sz="2000" dirty="0">
                <a:latin typeface="Times New Roman"/>
                <a:cs typeface="Times New Roman"/>
              </a:rPr>
              <a:t>: </a:t>
            </a:r>
            <a:r>
              <a:rPr lang="en-US" sz="2000" dirty="0">
                <a:solidFill>
                  <a:schemeClr val="tx1">
                    <a:lumMod val="65000"/>
                    <a:lumOff val="35000"/>
                  </a:schemeClr>
                </a:solidFill>
                <a:latin typeface="Times New Roman"/>
                <a:cs typeface="Times New Roman"/>
              </a:rPr>
              <a:t>13 columns | 2904 rows each</a:t>
            </a:r>
          </a:p>
          <a:p>
            <a:pPr marL="0" indent="0">
              <a:buNone/>
            </a:pPr>
            <a:r>
              <a:rPr lang="en-US" sz="2000" dirty="0">
                <a:solidFill>
                  <a:schemeClr val="accent1"/>
                </a:solidFill>
                <a:latin typeface="Times New Roman"/>
                <a:cs typeface="Times New Roman"/>
              </a:rPr>
              <a:t>After Cleansing and Manipulating: 7/8 columns | 2904 rows each</a:t>
            </a:r>
          </a:p>
          <a:p>
            <a:pPr marL="342900" indent="-342900">
              <a:buFont typeface="Wingdings"/>
              <a:buChar char="§"/>
            </a:pPr>
            <a:r>
              <a:rPr lang="en-US" sz="2000" dirty="0">
                <a:solidFill>
                  <a:schemeClr val="bg2">
                    <a:lumMod val="49000"/>
                  </a:schemeClr>
                </a:solidFill>
                <a:latin typeface="Times New Roman"/>
                <a:ea typeface="+mn-lt"/>
                <a:cs typeface="+mn-lt"/>
              </a:rPr>
              <a:t>Checked for null values and duplicates</a:t>
            </a:r>
            <a:endParaRPr lang="en-US" sz="2000" dirty="0">
              <a:solidFill>
                <a:schemeClr val="bg2">
                  <a:lumMod val="49000"/>
                </a:schemeClr>
              </a:solidFill>
              <a:latin typeface="Times New Roman"/>
              <a:cs typeface="Times New Roman"/>
            </a:endParaRPr>
          </a:p>
          <a:p>
            <a:pPr marL="342900" indent="-342900">
              <a:buClr>
                <a:srgbClr val="B96C11"/>
              </a:buClr>
              <a:buFont typeface="Wingdings"/>
              <a:buChar char="§"/>
            </a:pPr>
            <a:r>
              <a:rPr lang="en-US" sz="2000" dirty="0">
                <a:solidFill>
                  <a:schemeClr val="tx1">
                    <a:lumMod val="65000"/>
                    <a:lumOff val="35000"/>
                  </a:schemeClr>
                </a:solidFill>
                <a:latin typeface="Times New Roman"/>
                <a:ea typeface="+mn-lt"/>
                <a:cs typeface="+mn-lt"/>
              </a:rPr>
              <a:t>Dropped  columns for easier handling of data and clearer analysis</a:t>
            </a:r>
            <a:endParaRPr lang="en-US" sz="2000" dirty="0">
              <a:solidFill>
                <a:schemeClr val="tx1">
                  <a:lumMod val="65000"/>
                  <a:lumOff val="35000"/>
                </a:schemeClr>
              </a:solidFill>
              <a:latin typeface="Times New Roman"/>
              <a:cs typeface="Times New Roman"/>
            </a:endParaRPr>
          </a:p>
          <a:p>
            <a:pPr marL="342900" indent="-342900">
              <a:buClr>
                <a:srgbClr val="B96C11"/>
              </a:buClr>
              <a:buFont typeface="Wingdings"/>
              <a:buChar char="§"/>
            </a:pPr>
            <a:r>
              <a:rPr lang="en-US" sz="2000" dirty="0">
                <a:solidFill>
                  <a:schemeClr val="tx1">
                    <a:lumMod val="65000"/>
                    <a:lumOff val="35000"/>
                  </a:schemeClr>
                </a:solidFill>
                <a:latin typeface="Times New Roman"/>
                <a:ea typeface="+mn-lt"/>
                <a:cs typeface="+mn-lt"/>
              </a:rPr>
              <a:t>Renamed the columns for a better </a:t>
            </a:r>
            <a:r>
              <a:rPr lang="en-US" sz="2000" dirty="0" err="1">
                <a:solidFill>
                  <a:schemeClr val="tx1">
                    <a:lumMod val="65000"/>
                    <a:lumOff val="35000"/>
                  </a:schemeClr>
                </a:solidFill>
                <a:latin typeface="Times New Roman"/>
                <a:ea typeface="+mn-lt"/>
                <a:cs typeface="+mn-lt"/>
              </a:rPr>
              <a:t>visualisation</a:t>
            </a:r>
            <a:r>
              <a:rPr lang="en-US" sz="2000" dirty="0">
                <a:solidFill>
                  <a:schemeClr val="tx1">
                    <a:lumMod val="65000"/>
                    <a:lumOff val="35000"/>
                  </a:schemeClr>
                </a:solidFill>
                <a:latin typeface="Times New Roman"/>
                <a:ea typeface="+mn-lt"/>
                <a:cs typeface="+mn-lt"/>
              </a:rPr>
              <a:t> and understanding</a:t>
            </a:r>
            <a:endParaRPr lang="en-US" sz="2000" dirty="0">
              <a:solidFill>
                <a:schemeClr val="tx1">
                  <a:lumMod val="65000"/>
                  <a:lumOff val="35000"/>
                </a:schemeClr>
              </a:solidFill>
              <a:latin typeface="Times New Roman"/>
              <a:cs typeface="Times New Roman"/>
            </a:endParaRPr>
          </a:p>
          <a:p>
            <a:pPr marL="342900" indent="-342900">
              <a:buClr>
                <a:srgbClr val="B96C11"/>
              </a:buClr>
              <a:buFont typeface="Wingdings"/>
              <a:buChar char="§"/>
            </a:pPr>
            <a:r>
              <a:rPr lang="en-US" sz="2000" dirty="0">
                <a:solidFill>
                  <a:schemeClr val="tx1">
                    <a:lumMod val="65000"/>
                    <a:lumOff val="35000"/>
                  </a:schemeClr>
                </a:solidFill>
                <a:latin typeface="Times New Roman"/>
                <a:ea typeface="+mn-lt"/>
                <a:cs typeface="+mn-lt"/>
              </a:rPr>
              <a:t>Change the format of two columns for a better view</a:t>
            </a:r>
            <a:endParaRPr lang="en-US" sz="1800" dirty="0">
              <a:solidFill>
                <a:schemeClr val="tx1">
                  <a:lumMod val="65000"/>
                  <a:lumOff val="35000"/>
                </a:schemeClr>
              </a:solidFill>
              <a:latin typeface="Times New Roman"/>
              <a:cs typeface="Times New Roman"/>
            </a:endParaRPr>
          </a:p>
          <a:p>
            <a:pPr marL="0" indent="0">
              <a:buNone/>
            </a:pPr>
            <a:endParaRPr lang="en-US" sz="2000">
              <a:solidFill>
                <a:schemeClr val="accent1">
                  <a:lumMod val="76000"/>
                </a:schemeClr>
              </a:solidFill>
              <a:latin typeface="Times New Roman"/>
              <a:cs typeface="Times New Roman"/>
            </a:endParaRPr>
          </a:p>
          <a:p>
            <a:pPr marL="0" indent="0">
              <a:buNone/>
            </a:pPr>
            <a:endParaRPr lang="en-US">
              <a:solidFill>
                <a:schemeClr val="accent1">
                  <a:lumMod val="76000"/>
                </a:schemeClr>
              </a:solidFill>
              <a:cs typeface="Times New Roman"/>
            </a:endParaRPr>
          </a:p>
          <a:p>
            <a:pPr marL="0" indent="0">
              <a:buNone/>
            </a:pPr>
            <a:endParaRPr lang="en-US">
              <a:solidFill>
                <a:schemeClr val="accent1">
                  <a:lumMod val="76000"/>
                </a:schemeClr>
              </a:solidFill>
            </a:endParaRPr>
          </a:p>
        </p:txBody>
      </p:sp>
    </p:spTree>
    <p:extLst>
      <p:ext uri="{BB962C8B-B14F-4D97-AF65-F5344CB8AC3E}">
        <p14:creationId xmlns:p14="http://schemas.microsoft.com/office/powerpoint/2010/main" val="20016377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7FE18-C452-12D4-4EC3-972521F30205}"/>
              </a:ext>
            </a:extLst>
          </p:cNvPr>
          <p:cNvSpPr>
            <a:spLocks noGrp="1"/>
          </p:cNvSpPr>
          <p:nvPr>
            <p:ph type="title"/>
          </p:nvPr>
        </p:nvSpPr>
        <p:spPr>
          <a:xfrm>
            <a:off x="3228544" y="441385"/>
            <a:ext cx="7311196" cy="1752599"/>
          </a:xfrm>
        </p:spPr>
        <p:txBody>
          <a:bodyPr>
            <a:normAutofit/>
          </a:bodyPr>
          <a:lstStyle/>
          <a:p>
            <a:pPr marL="514350" indent="-514350">
              <a:lnSpc>
                <a:spcPct val="90000"/>
              </a:lnSpc>
              <a:buAutoNum type="arabicPeriod"/>
            </a:pPr>
            <a:r>
              <a:rPr lang="en-US" sz="2800" b="1" i="1" dirty="0">
                <a:latin typeface="Times New Roman"/>
                <a:cs typeface="Times New Roman"/>
              </a:rPr>
              <a:t>Merging the datasets:</a:t>
            </a:r>
            <a:r>
              <a:rPr lang="en-US" sz="2800" dirty="0">
                <a:latin typeface="Times New Roman"/>
                <a:cs typeface="Times New Roman"/>
              </a:rPr>
              <a:t> </a:t>
            </a:r>
            <a:br>
              <a:rPr lang="en-US" sz="2800" dirty="0">
                <a:latin typeface="Times New Roman"/>
                <a:cs typeface="Times New Roman"/>
              </a:rPr>
            </a:br>
            <a:r>
              <a:rPr lang="en-US" sz="2800" b="1" dirty="0">
                <a:solidFill>
                  <a:schemeClr val="tx1">
                    <a:lumMod val="65000"/>
                    <a:lumOff val="35000"/>
                  </a:schemeClr>
                </a:solidFill>
                <a:latin typeface="Times New Roman"/>
                <a:cs typeface="Times New Roman"/>
              </a:rPr>
              <a:t>Life Expectancy &amp; </a:t>
            </a:r>
            <a:br>
              <a:rPr lang="en-US" sz="2800" b="1" dirty="0">
                <a:latin typeface="Times New Roman"/>
                <a:cs typeface="Times New Roman"/>
              </a:rPr>
            </a:br>
            <a:r>
              <a:rPr lang="en-US" sz="2800" b="1" dirty="0">
                <a:solidFill>
                  <a:schemeClr val="accent1"/>
                </a:solidFill>
                <a:latin typeface="Times New Roman"/>
                <a:cs typeface="Times New Roman"/>
              </a:rPr>
              <a:t>Healthy Life Expectancy at birth</a:t>
            </a:r>
            <a:endParaRPr lang="en-US" sz="2800">
              <a:solidFill>
                <a:schemeClr val="accent1"/>
              </a:solidFill>
              <a:latin typeface="Times New Roman"/>
              <a:cs typeface="Times New Roman"/>
            </a:endParaRPr>
          </a:p>
        </p:txBody>
      </p:sp>
      <p:sp>
        <p:nvSpPr>
          <p:cNvPr id="3" name="Content Placeholder 2">
            <a:extLst>
              <a:ext uri="{FF2B5EF4-FFF2-40B4-BE49-F238E27FC236}">
                <a16:creationId xmlns:a16="http://schemas.microsoft.com/office/drawing/2014/main" id="{CFC3385F-0384-2740-0029-D15FBD3A2304}"/>
              </a:ext>
            </a:extLst>
          </p:cNvPr>
          <p:cNvSpPr>
            <a:spLocks noGrp="1"/>
          </p:cNvSpPr>
          <p:nvPr>
            <p:ph idx="1"/>
          </p:nvPr>
        </p:nvSpPr>
        <p:spPr>
          <a:xfrm>
            <a:off x="5140732" y="2666999"/>
            <a:ext cx="6362291" cy="3124201"/>
          </a:xfrm>
        </p:spPr>
        <p:txBody>
          <a:bodyPr>
            <a:normAutofit/>
          </a:bodyPr>
          <a:lstStyle/>
          <a:p>
            <a:pPr marL="0" indent="0">
              <a:buNone/>
            </a:pPr>
            <a:endParaRPr lang="en-US">
              <a:latin typeface="Times New Roman"/>
              <a:cs typeface="Times New Roman"/>
            </a:endParaRPr>
          </a:p>
          <a:p>
            <a:pPr>
              <a:buClr>
                <a:srgbClr val="B96C11"/>
              </a:buClr>
              <a:buFont typeface="Arial,Sans-Serif"/>
            </a:pPr>
            <a:endParaRPr lang="en-US">
              <a:latin typeface="Times New Roman"/>
              <a:cs typeface="Times New Roman"/>
            </a:endParaRPr>
          </a:p>
        </p:txBody>
      </p:sp>
      <p:pic>
        <p:nvPicPr>
          <p:cNvPr id="7" name="Picture 6" descr="A screenshot of a computer&#10;&#10;Description automatically generated">
            <a:extLst>
              <a:ext uri="{FF2B5EF4-FFF2-40B4-BE49-F238E27FC236}">
                <a16:creationId xmlns:a16="http://schemas.microsoft.com/office/drawing/2014/main" id="{82D5500C-05EE-C67D-AAE6-85072224315D}"/>
              </a:ext>
            </a:extLst>
          </p:cNvPr>
          <p:cNvPicPr>
            <a:picLocks noChangeAspect="1"/>
          </p:cNvPicPr>
          <p:nvPr/>
        </p:nvPicPr>
        <p:blipFill>
          <a:blip r:embed="rId3"/>
          <a:stretch>
            <a:fillRect/>
          </a:stretch>
        </p:blipFill>
        <p:spPr>
          <a:xfrm>
            <a:off x="2253917" y="3228792"/>
            <a:ext cx="9596887" cy="3305175"/>
          </a:xfrm>
          <a:prstGeom prst="rect">
            <a:avLst/>
          </a:prstGeom>
        </p:spPr>
      </p:pic>
      <p:pic>
        <p:nvPicPr>
          <p:cNvPr id="4" name="Picture 3" descr="A close-up of a white card&#10;&#10;Description automatically generated">
            <a:extLst>
              <a:ext uri="{FF2B5EF4-FFF2-40B4-BE49-F238E27FC236}">
                <a16:creationId xmlns:a16="http://schemas.microsoft.com/office/drawing/2014/main" id="{BAAA31D7-EF85-20EB-CA34-49F759B40E6F}"/>
              </a:ext>
            </a:extLst>
          </p:cNvPr>
          <p:cNvPicPr>
            <a:picLocks noChangeAspect="1"/>
          </p:cNvPicPr>
          <p:nvPr/>
        </p:nvPicPr>
        <p:blipFill>
          <a:blip r:embed="rId4"/>
          <a:stretch>
            <a:fillRect/>
          </a:stretch>
        </p:blipFill>
        <p:spPr>
          <a:xfrm>
            <a:off x="2251375" y="2441449"/>
            <a:ext cx="9591495" cy="796325"/>
          </a:xfrm>
          <a:prstGeom prst="rect">
            <a:avLst/>
          </a:prstGeom>
        </p:spPr>
      </p:pic>
    </p:spTree>
    <p:extLst>
      <p:ext uri="{BB962C8B-B14F-4D97-AF65-F5344CB8AC3E}">
        <p14:creationId xmlns:p14="http://schemas.microsoft.com/office/powerpoint/2010/main" val="20775650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03BF673-8C68-4092-BF1B-53C57EFEC2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4" cy="6858000"/>
          </a:xfrm>
          <a:prstGeom prst="rect">
            <a:avLst/>
          </a:pr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dirty="0"/>
          </a:p>
        </p:txBody>
      </p:sp>
      <p:sp useBgFill="1">
        <p:nvSpPr>
          <p:cNvPr id="10" name="Freeform: Shape 9">
            <a:extLst>
              <a:ext uri="{FF2B5EF4-FFF2-40B4-BE49-F238E27FC236}">
                <a16:creationId xmlns:a16="http://schemas.microsoft.com/office/drawing/2014/main" id="{B1BDB70B-F0E6-4867-818F-C582494FB6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7083" y="0"/>
            <a:ext cx="11134917" cy="6858000"/>
          </a:xfrm>
          <a:custGeom>
            <a:avLst/>
            <a:gdLst>
              <a:gd name="connsiteX0" fmla="*/ 7627977 w 11134917"/>
              <a:gd name="connsiteY0" fmla="*/ 0 h 6858000"/>
              <a:gd name="connsiteX1" fmla="*/ 8129873 w 11134917"/>
              <a:gd name="connsiteY1" fmla="*/ 0 h 6858000"/>
              <a:gd name="connsiteX2" fmla="*/ 11134917 w 11134917"/>
              <a:gd name="connsiteY2" fmla="*/ 0 h 6858000"/>
              <a:gd name="connsiteX3" fmla="*/ 11134917 w 11134917"/>
              <a:gd name="connsiteY3" fmla="*/ 6858000 h 6858000"/>
              <a:gd name="connsiteX4" fmla="*/ 8129873 w 11134917"/>
              <a:gd name="connsiteY4" fmla="*/ 6858000 h 6858000"/>
              <a:gd name="connsiteX5" fmla="*/ 7627977 w 11134917"/>
              <a:gd name="connsiteY5" fmla="*/ 6858000 h 6858000"/>
              <a:gd name="connsiteX6" fmla="*/ 7627977 w 11134917"/>
              <a:gd name="connsiteY6" fmla="*/ 6857419 h 6858000"/>
              <a:gd name="connsiteX7" fmla="*/ 1921931 w 11134917"/>
              <a:gd name="connsiteY7" fmla="*/ 6850814 h 6858000"/>
              <a:gd name="connsiteX8" fmla="*/ 0 w 11134917"/>
              <a:gd name="connsiteY8" fmla="*/ 5325357 h 6858000"/>
              <a:gd name="connsiteX9" fmla="*/ 838199 w 11134917"/>
              <a:gd name="connsiteY9" fmla="*/ 7331 h 6858000"/>
              <a:gd name="connsiteX10" fmla="*/ 7627977 w 11134917"/>
              <a:gd name="connsiteY10" fmla="*/ 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134917" h="6858000">
                <a:moveTo>
                  <a:pt x="7627977" y="0"/>
                </a:moveTo>
                <a:lnTo>
                  <a:pt x="8129873" y="0"/>
                </a:lnTo>
                <a:lnTo>
                  <a:pt x="11134917" y="0"/>
                </a:lnTo>
                <a:lnTo>
                  <a:pt x="11134917" y="6858000"/>
                </a:lnTo>
                <a:lnTo>
                  <a:pt x="8129873" y="6858000"/>
                </a:lnTo>
                <a:lnTo>
                  <a:pt x="7627977" y="6858000"/>
                </a:lnTo>
                <a:lnTo>
                  <a:pt x="7627977" y="6857419"/>
                </a:lnTo>
                <a:lnTo>
                  <a:pt x="1921931" y="6850814"/>
                </a:lnTo>
                <a:lnTo>
                  <a:pt x="0" y="5325357"/>
                </a:lnTo>
                <a:lnTo>
                  <a:pt x="838199" y="7331"/>
                </a:lnTo>
                <a:lnTo>
                  <a:pt x="7627977" y="50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1E52C707-F508-47B5-8864-8CC3EE0F030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2025" y="0"/>
            <a:ext cx="2436813" cy="6858001"/>
            <a:chOff x="1320800" y="0"/>
            <a:chExt cx="2436813" cy="6858001"/>
          </a:xfrm>
        </p:grpSpPr>
        <p:sp>
          <p:nvSpPr>
            <p:cNvPr id="13" name="Freeform 6">
              <a:extLst>
                <a:ext uri="{FF2B5EF4-FFF2-40B4-BE49-F238E27FC236}">
                  <a16:creationId xmlns:a16="http://schemas.microsoft.com/office/drawing/2014/main" id="{066B5DD9-1C9B-4957-AF7C-8E11C7E88B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14" name="Freeform 7">
              <a:extLst>
                <a:ext uri="{FF2B5EF4-FFF2-40B4-BE49-F238E27FC236}">
                  <a16:creationId xmlns:a16="http://schemas.microsoft.com/office/drawing/2014/main" id="{8DF9D480-2CEE-4037-8C1B-6380686300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5" name="Freeform 8">
              <a:extLst>
                <a:ext uri="{FF2B5EF4-FFF2-40B4-BE49-F238E27FC236}">
                  <a16:creationId xmlns:a16="http://schemas.microsoft.com/office/drawing/2014/main" id="{EBF6F7B8-E51D-495D-B944-B8E2E84C57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6" name="Freeform 9">
              <a:extLst>
                <a:ext uri="{FF2B5EF4-FFF2-40B4-BE49-F238E27FC236}">
                  <a16:creationId xmlns:a16="http://schemas.microsoft.com/office/drawing/2014/main" id="{F43BB0F7-F9F4-4CFA-9277-2B671DC70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7" name="Freeform 10">
              <a:extLst>
                <a:ext uri="{FF2B5EF4-FFF2-40B4-BE49-F238E27FC236}">
                  <a16:creationId xmlns:a16="http://schemas.microsoft.com/office/drawing/2014/main" id="{D51F18A6-D926-4462-B110-63097184F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8" name="Freeform 11">
              <a:extLst>
                <a:ext uri="{FF2B5EF4-FFF2-40B4-BE49-F238E27FC236}">
                  <a16:creationId xmlns:a16="http://schemas.microsoft.com/office/drawing/2014/main" id="{ED77B4F5-55D8-444A-9EFF-CAAA8CD69F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1">
            <a:extLst>
              <a:ext uri="{FF2B5EF4-FFF2-40B4-BE49-F238E27FC236}">
                <a16:creationId xmlns:a16="http://schemas.microsoft.com/office/drawing/2014/main" id="{2DDB57C9-714A-A853-170C-BC34582A6751}"/>
              </a:ext>
            </a:extLst>
          </p:cNvPr>
          <p:cNvSpPr>
            <a:spLocks noGrp="1"/>
          </p:cNvSpPr>
          <p:nvPr>
            <p:ph type="title"/>
          </p:nvPr>
        </p:nvSpPr>
        <p:spPr>
          <a:xfrm>
            <a:off x="1934791" y="169498"/>
            <a:ext cx="4303835" cy="1234758"/>
          </a:xfrm>
          <a:effectLst/>
        </p:spPr>
        <p:txBody>
          <a:bodyPr anchor="ctr">
            <a:normAutofit fontScale="90000"/>
          </a:bodyPr>
          <a:lstStyle/>
          <a:p>
            <a:pPr algn="l"/>
            <a:r>
              <a:rPr lang="en-US" sz="2000" b="1" i="1" dirty="0">
                <a:solidFill>
                  <a:srgbClr val="000000"/>
                </a:solidFill>
                <a:latin typeface="Times New Roman"/>
                <a:cs typeface="Times New Roman"/>
              </a:rPr>
              <a:t>2. Gender</a:t>
            </a:r>
            <a:r>
              <a:rPr lang="en-US" sz="2000" dirty="0">
                <a:solidFill>
                  <a:srgbClr val="000000"/>
                </a:solidFill>
                <a:latin typeface="Times New Roman"/>
                <a:cs typeface="Times New Roman"/>
              </a:rPr>
              <a:t> grouped by </a:t>
            </a:r>
            <a:r>
              <a:rPr lang="en-US" sz="2000" b="1" dirty="0">
                <a:solidFill>
                  <a:schemeClr val="tx1">
                    <a:lumMod val="65000"/>
                    <a:lumOff val="35000"/>
                  </a:schemeClr>
                </a:solidFill>
                <a:latin typeface="Times New Roman"/>
                <a:cs typeface="Times New Roman"/>
              </a:rPr>
              <a:t>Life expectancy (at birth)</a:t>
            </a:r>
            <a:r>
              <a:rPr lang="en-US" sz="2000" b="1" dirty="0">
                <a:solidFill>
                  <a:srgbClr val="000000"/>
                </a:solidFill>
                <a:latin typeface="Times New Roman"/>
                <a:cs typeface="Times New Roman"/>
              </a:rPr>
              <a:t> &amp;</a:t>
            </a:r>
            <a:r>
              <a:rPr lang="en-US" sz="2000" dirty="0">
                <a:solidFill>
                  <a:schemeClr val="accent1"/>
                </a:solidFill>
                <a:latin typeface="Times New Roman"/>
                <a:cs typeface="Times New Roman"/>
              </a:rPr>
              <a:t> </a:t>
            </a:r>
            <a:r>
              <a:rPr lang="en-US" sz="2000" b="1" dirty="0">
                <a:solidFill>
                  <a:schemeClr val="accent1"/>
                </a:solidFill>
                <a:latin typeface="Times New Roman"/>
                <a:cs typeface="Times New Roman"/>
              </a:rPr>
              <a:t>Healthy life expectancy (at birth)</a:t>
            </a:r>
            <a:r>
              <a:rPr lang="en-US" sz="2000" dirty="0">
                <a:solidFill>
                  <a:srgbClr val="000000"/>
                </a:solidFill>
                <a:latin typeface="Times New Roman"/>
                <a:cs typeface="Times New Roman"/>
              </a:rPr>
              <a:t> mean and presented individually</a:t>
            </a:r>
          </a:p>
        </p:txBody>
      </p:sp>
      <p:pic>
        <p:nvPicPr>
          <p:cNvPr id="4" name="Content Placeholder 3" descr="A graph of a number of people&#10;&#10;Description automatically generated">
            <a:extLst>
              <a:ext uri="{FF2B5EF4-FFF2-40B4-BE49-F238E27FC236}">
                <a16:creationId xmlns:a16="http://schemas.microsoft.com/office/drawing/2014/main" id="{010B264E-6456-31FC-3059-A4CF2A7A7D5E}"/>
              </a:ext>
            </a:extLst>
          </p:cNvPr>
          <p:cNvPicPr>
            <a:picLocks noGrp="1" noChangeAspect="1"/>
          </p:cNvPicPr>
          <p:nvPr>
            <p:ph idx="1"/>
          </p:nvPr>
        </p:nvPicPr>
        <p:blipFill>
          <a:blip r:embed="rId3"/>
          <a:stretch>
            <a:fillRect/>
          </a:stretch>
        </p:blipFill>
        <p:spPr>
          <a:xfrm>
            <a:off x="408613" y="1413817"/>
            <a:ext cx="4070591" cy="3995469"/>
          </a:xfrm>
        </p:spPr>
      </p:pic>
      <p:pic>
        <p:nvPicPr>
          <p:cNvPr id="6" name="Picture 5" descr="A graph of different colored lines&#10;&#10;Description automatically generated">
            <a:extLst>
              <a:ext uri="{FF2B5EF4-FFF2-40B4-BE49-F238E27FC236}">
                <a16:creationId xmlns:a16="http://schemas.microsoft.com/office/drawing/2014/main" id="{818D5069-146A-80AC-2E83-FE2D6491C132}"/>
              </a:ext>
            </a:extLst>
          </p:cNvPr>
          <p:cNvPicPr>
            <a:picLocks noChangeAspect="1"/>
          </p:cNvPicPr>
          <p:nvPr/>
        </p:nvPicPr>
        <p:blipFill>
          <a:blip r:embed="rId4"/>
          <a:stretch>
            <a:fillRect/>
          </a:stretch>
        </p:blipFill>
        <p:spPr>
          <a:xfrm>
            <a:off x="6492005" y="-3236"/>
            <a:ext cx="5332744" cy="3442660"/>
          </a:xfrm>
          <a:prstGeom prst="rect">
            <a:avLst/>
          </a:prstGeom>
        </p:spPr>
      </p:pic>
      <p:pic>
        <p:nvPicPr>
          <p:cNvPr id="7" name="Picture 6" descr="A graph of different colored lines&#10;&#10;Description automatically generated">
            <a:extLst>
              <a:ext uri="{FF2B5EF4-FFF2-40B4-BE49-F238E27FC236}">
                <a16:creationId xmlns:a16="http://schemas.microsoft.com/office/drawing/2014/main" id="{6AD7CAB0-4432-63DD-4D15-23854457A5D1}"/>
              </a:ext>
            </a:extLst>
          </p:cNvPr>
          <p:cNvPicPr>
            <a:picLocks noChangeAspect="1"/>
          </p:cNvPicPr>
          <p:nvPr/>
        </p:nvPicPr>
        <p:blipFill>
          <a:blip r:embed="rId5"/>
          <a:stretch>
            <a:fillRect/>
          </a:stretch>
        </p:blipFill>
        <p:spPr>
          <a:xfrm>
            <a:off x="4849170" y="3464753"/>
            <a:ext cx="5376055" cy="3395034"/>
          </a:xfrm>
          <a:prstGeom prst="rect">
            <a:avLst/>
          </a:prstGeom>
        </p:spPr>
      </p:pic>
      <p:sp>
        <p:nvSpPr>
          <p:cNvPr id="19" name="TextBox 18">
            <a:extLst>
              <a:ext uri="{FF2B5EF4-FFF2-40B4-BE49-F238E27FC236}">
                <a16:creationId xmlns:a16="http://schemas.microsoft.com/office/drawing/2014/main" id="{7A8B56BD-9E15-67CF-5848-706DB9724F77}"/>
              </a:ext>
            </a:extLst>
          </p:cNvPr>
          <p:cNvSpPr txBox="1"/>
          <p:nvPr/>
        </p:nvSpPr>
        <p:spPr>
          <a:xfrm>
            <a:off x="4571999" y="1538111"/>
            <a:ext cx="1876777"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dirty="0">
                <a:latin typeface="Times New Roman"/>
                <a:ea typeface="+mn-lt"/>
                <a:cs typeface="+mn-lt"/>
              </a:rPr>
              <a:t>From this bar and hist plots we can clearly deduce that the average</a:t>
            </a:r>
            <a:r>
              <a:rPr lang="en-US" sz="1400" b="1" dirty="0">
                <a:latin typeface="Times New Roman"/>
                <a:ea typeface="+mn-lt"/>
                <a:cs typeface="+mn-lt"/>
              </a:rPr>
              <a:t> </a:t>
            </a:r>
            <a:r>
              <a:rPr lang="en-US" sz="1400" b="1" dirty="0">
                <a:solidFill>
                  <a:schemeClr val="tx1">
                    <a:lumMod val="65000"/>
                    <a:lumOff val="35000"/>
                  </a:schemeClr>
                </a:solidFill>
                <a:latin typeface="Times New Roman"/>
                <a:ea typeface="+mn-lt"/>
                <a:cs typeface="+mn-lt"/>
              </a:rPr>
              <a:t>Life</a:t>
            </a:r>
            <a:r>
              <a:rPr lang="en-US" sz="1400" b="1" dirty="0">
                <a:latin typeface="Times New Roman"/>
                <a:ea typeface="+mn-lt"/>
                <a:cs typeface="+mn-lt"/>
              </a:rPr>
              <a:t> and </a:t>
            </a:r>
            <a:r>
              <a:rPr lang="en-US" sz="1400" b="1" dirty="0">
                <a:solidFill>
                  <a:schemeClr val="accent1"/>
                </a:solidFill>
                <a:latin typeface="Times New Roman"/>
                <a:ea typeface="+mn-lt"/>
                <a:cs typeface="+mn-lt"/>
              </a:rPr>
              <a:t>Healthy life expectancy (at birth)</a:t>
            </a:r>
            <a:r>
              <a:rPr lang="en-US" sz="1400" dirty="0">
                <a:latin typeface="Times New Roman"/>
                <a:ea typeface="+mn-lt"/>
                <a:cs typeface="+mn-lt"/>
              </a:rPr>
              <a:t> for women is significantly higher than that of men.</a:t>
            </a:r>
            <a:endParaRPr lang="en-US" sz="1400" dirty="0">
              <a:latin typeface="Times New Roman"/>
              <a:cs typeface="Times New Roman"/>
            </a:endParaRPr>
          </a:p>
        </p:txBody>
      </p:sp>
    </p:spTree>
    <p:extLst>
      <p:ext uri="{BB962C8B-B14F-4D97-AF65-F5344CB8AC3E}">
        <p14:creationId xmlns:p14="http://schemas.microsoft.com/office/powerpoint/2010/main" val="1140644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273E4-C1D6-0B7B-EB28-0A21B2157553}"/>
              </a:ext>
            </a:extLst>
          </p:cNvPr>
          <p:cNvSpPr>
            <a:spLocks noGrp="1"/>
          </p:cNvSpPr>
          <p:nvPr>
            <p:ph type="title"/>
          </p:nvPr>
        </p:nvSpPr>
        <p:spPr>
          <a:xfrm>
            <a:off x="1484312" y="-4313"/>
            <a:ext cx="2812386" cy="2140788"/>
          </a:xfrm>
        </p:spPr>
        <p:txBody>
          <a:bodyPr vert="horz" lIns="91440" tIns="45720" rIns="91440" bIns="45720" rtlCol="0" anchor="t">
            <a:normAutofit fontScale="90000"/>
          </a:bodyPr>
          <a:lstStyle/>
          <a:p>
            <a:pPr>
              <a:lnSpc>
                <a:spcPct val="90000"/>
              </a:lnSpc>
              <a:spcBef>
                <a:spcPct val="20000"/>
              </a:spcBef>
              <a:spcAft>
                <a:spcPts val="600"/>
              </a:spcAft>
            </a:pPr>
            <a:br>
              <a:rPr lang="en-US" sz="1800" b="1" dirty="0">
                <a:latin typeface="Times New Roman"/>
                <a:cs typeface="Times New Roman"/>
              </a:rPr>
            </a:br>
            <a:br>
              <a:rPr lang="en-US" sz="1800" b="1" dirty="0">
                <a:latin typeface="Times New Roman"/>
                <a:cs typeface="Times New Roman"/>
              </a:rPr>
            </a:br>
            <a:r>
              <a:rPr lang="en-US" sz="2400" b="1" i="1" dirty="0">
                <a:latin typeface="Times New Roman"/>
                <a:cs typeface="Times New Roman"/>
              </a:rPr>
              <a:t>3. Global analysis</a:t>
            </a:r>
            <a:r>
              <a:rPr lang="en-US" sz="2400" dirty="0">
                <a:latin typeface="Times New Roman"/>
                <a:cs typeface="Times New Roman"/>
              </a:rPr>
              <a:t> by </a:t>
            </a:r>
            <a:r>
              <a:rPr lang="en-US" sz="2400" b="1" dirty="0">
                <a:solidFill>
                  <a:schemeClr val="tx1">
                    <a:lumMod val="65000"/>
                    <a:lumOff val="35000"/>
                  </a:schemeClr>
                </a:solidFill>
                <a:latin typeface="Times New Roman"/>
                <a:cs typeface="Times New Roman"/>
              </a:rPr>
              <a:t>Life expectancy </a:t>
            </a:r>
            <a:br>
              <a:rPr lang="en-US" sz="2400" b="1" dirty="0">
                <a:latin typeface="Times New Roman"/>
                <a:cs typeface="Times New Roman"/>
              </a:rPr>
            </a:br>
            <a:r>
              <a:rPr lang="en-US" sz="2400" b="1" dirty="0">
                <a:solidFill>
                  <a:schemeClr val="tx1">
                    <a:lumMod val="65000"/>
                    <a:lumOff val="35000"/>
                  </a:schemeClr>
                </a:solidFill>
                <a:latin typeface="Times New Roman"/>
                <a:cs typeface="Times New Roman"/>
              </a:rPr>
              <a:t>(at birth)</a:t>
            </a:r>
            <a:r>
              <a:rPr lang="en-US" sz="2400" dirty="0">
                <a:latin typeface="Times New Roman"/>
                <a:cs typeface="Times New Roman"/>
              </a:rPr>
              <a:t> &amp; </a:t>
            </a:r>
            <a:br>
              <a:rPr lang="en-US" sz="2400" dirty="0">
                <a:latin typeface="Times New Roman"/>
                <a:cs typeface="Times New Roman"/>
              </a:rPr>
            </a:br>
            <a:r>
              <a:rPr lang="en-US" sz="2400" b="1" dirty="0">
                <a:solidFill>
                  <a:schemeClr val="accent1"/>
                </a:solidFill>
                <a:latin typeface="Times New Roman"/>
                <a:cs typeface="Times New Roman"/>
              </a:rPr>
              <a:t>Healthy life expectancy (at birth)</a:t>
            </a:r>
            <a:endParaRPr lang="en-US" sz="2400">
              <a:solidFill>
                <a:schemeClr val="accent1"/>
              </a:solidFill>
              <a:latin typeface="Times New Roman"/>
              <a:cs typeface="Times New Roman"/>
            </a:endParaRPr>
          </a:p>
          <a:p>
            <a:pPr>
              <a:lnSpc>
                <a:spcPct val="90000"/>
              </a:lnSpc>
            </a:pPr>
            <a:endParaRPr lang="en-US" sz="1800"/>
          </a:p>
        </p:txBody>
      </p:sp>
      <p:sp>
        <p:nvSpPr>
          <p:cNvPr id="9" name="Content Placeholder 8">
            <a:extLst>
              <a:ext uri="{FF2B5EF4-FFF2-40B4-BE49-F238E27FC236}">
                <a16:creationId xmlns:a16="http://schemas.microsoft.com/office/drawing/2014/main" id="{5155EAD8-93C2-2A39-F0E8-563D053E1C48}"/>
              </a:ext>
            </a:extLst>
          </p:cNvPr>
          <p:cNvSpPr>
            <a:spLocks noGrp="1"/>
          </p:cNvSpPr>
          <p:nvPr>
            <p:ph idx="1"/>
          </p:nvPr>
        </p:nvSpPr>
        <p:spPr>
          <a:xfrm>
            <a:off x="1484311" y="2321943"/>
            <a:ext cx="2812386" cy="3541143"/>
          </a:xfrm>
        </p:spPr>
        <p:txBody>
          <a:bodyPr vert="horz" lIns="91440" tIns="45720" rIns="91440" bIns="45720" rtlCol="0" anchor="t">
            <a:normAutofit/>
          </a:bodyPr>
          <a:lstStyle/>
          <a:p>
            <a:r>
              <a:rPr lang="en-US" sz="1600" dirty="0">
                <a:latin typeface="Times New Roman"/>
                <a:ea typeface="+mn-lt"/>
                <a:cs typeface="+mn-lt"/>
              </a:rPr>
              <a:t>Worldwide, </a:t>
            </a:r>
            <a:r>
              <a:rPr lang="en-US" sz="1800" b="1" dirty="0">
                <a:solidFill>
                  <a:schemeClr val="tx1">
                    <a:lumMod val="65000"/>
                    <a:lumOff val="35000"/>
                  </a:schemeClr>
                </a:solidFill>
                <a:latin typeface="Times New Roman"/>
                <a:ea typeface="+mn-lt"/>
                <a:cs typeface="Times New Roman"/>
              </a:rPr>
              <a:t>Life expectancy (at birth)</a:t>
            </a:r>
            <a:r>
              <a:rPr lang="en-US" sz="1600" dirty="0">
                <a:latin typeface="Times New Roman"/>
                <a:ea typeface="+mn-lt"/>
                <a:cs typeface="+mn-lt"/>
              </a:rPr>
              <a:t> is predominant at 71 years, followed by 73 and 69 years.</a:t>
            </a:r>
          </a:p>
          <a:p>
            <a:pPr>
              <a:buClr>
                <a:srgbClr val="B96C11"/>
              </a:buClr>
            </a:pPr>
            <a:endParaRPr lang="en-US" sz="1600" dirty="0">
              <a:latin typeface="Times New Roman"/>
            </a:endParaRPr>
          </a:p>
          <a:p>
            <a:pPr>
              <a:buClr>
                <a:srgbClr val="B96C11"/>
              </a:buClr>
            </a:pPr>
            <a:r>
              <a:rPr lang="en-US" sz="1600" dirty="0">
                <a:latin typeface="Times New Roman"/>
                <a:ea typeface="+mn-lt"/>
                <a:cs typeface="+mn-lt"/>
              </a:rPr>
              <a:t>Compared to </a:t>
            </a:r>
            <a:r>
              <a:rPr lang="en-US" sz="1800" b="1" dirty="0">
                <a:solidFill>
                  <a:schemeClr val="tx1">
                    <a:lumMod val="65000"/>
                    <a:lumOff val="35000"/>
                  </a:schemeClr>
                </a:solidFill>
                <a:latin typeface="Times New Roman"/>
                <a:ea typeface="+mn-lt"/>
                <a:cs typeface="Times New Roman"/>
              </a:rPr>
              <a:t>Life expectancy (at birth)</a:t>
            </a:r>
            <a:r>
              <a:rPr lang="en-US" sz="1800" dirty="0">
                <a:latin typeface="Times New Roman"/>
                <a:ea typeface="+mn-lt"/>
                <a:cs typeface="Times New Roman"/>
              </a:rPr>
              <a:t> </a:t>
            </a:r>
            <a:r>
              <a:rPr lang="en-US" sz="1600" dirty="0">
                <a:latin typeface="Times New Roman"/>
                <a:ea typeface="+mn-lt"/>
                <a:cs typeface="+mn-lt"/>
              </a:rPr>
              <a:t>, </a:t>
            </a:r>
            <a:r>
              <a:rPr lang="en-US" sz="1800" b="1" dirty="0">
                <a:solidFill>
                  <a:schemeClr val="accent1"/>
                </a:solidFill>
                <a:latin typeface="Times New Roman"/>
                <a:ea typeface="+mn-lt"/>
                <a:cs typeface="Times New Roman"/>
              </a:rPr>
              <a:t>Healthy life expectancy (at birth)</a:t>
            </a:r>
            <a:r>
              <a:rPr lang="en-US" sz="1800" b="1" dirty="0">
                <a:latin typeface="Times New Roman"/>
                <a:ea typeface="+mn-lt"/>
                <a:cs typeface="Times New Roman"/>
              </a:rPr>
              <a:t> </a:t>
            </a:r>
            <a:r>
              <a:rPr lang="en-US" sz="1600" dirty="0">
                <a:latin typeface="Times New Roman"/>
                <a:ea typeface="+mn-lt"/>
                <a:cs typeface="+mn-lt"/>
              </a:rPr>
              <a:t>is much lower at 63 years, followed by 62 years.</a:t>
            </a:r>
            <a:endParaRPr lang="en-US" sz="1600">
              <a:latin typeface="Times New Roman"/>
              <a:cs typeface="Times New Roman"/>
            </a:endParaRPr>
          </a:p>
        </p:txBody>
      </p:sp>
      <p:sp>
        <p:nvSpPr>
          <p:cNvPr id="12" name="Rounded Rectangle 6">
            <a:extLst>
              <a:ext uri="{FF2B5EF4-FFF2-40B4-BE49-F238E27FC236}">
                <a16:creationId xmlns:a16="http://schemas.microsoft.com/office/drawing/2014/main" id="{E9300062-3750-4DBC-AFC8-E9DC8EFA9B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17552" y="648931"/>
            <a:ext cx="6917478" cy="5231964"/>
          </a:xfrm>
          <a:prstGeom prst="roundRect">
            <a:avLst>
              <a:gd name="adj" fmla="val 4834"/>
            </a:avLst>
          </a:prstGeom>
          <a:solidFill>
            <a:schemeClr val="bg1"/>
          </a:solidFill>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ie chart with numbers and a number with Crust in the background&#10;&#10;Description automatically generated">
            <a:extLst>
              <a:ext uri="{FF2B5EF4-FFF2-40B4-BE49-F238E27FC236}">
                <a16:creationId xmlns:a16="http://schemas.microsoft.com/office/drawing/2014/main" id="{A0753E10-C74B-CEFA-24C7-E075C1218867}"/>
              </a:ext>
            </a:extLst>
          </p:cNvPr>
          <p:cNvPicPr>
            <a:picLocks noChangeAspect="1"/>
          </p:cNvPicPr>
          <p:nvPr/>
        </p:nvPicPr>
        <p:blipFill>
          <a:blip r:embed="rId3"/>
          <a:stretch>
            <a:fillRect/>
          </a:stretch>
        </p:blipFill>
        <p:spPr>
          <a:xfrm>
            <a:off x="4736717" y="1559241"/>
            <a:ext cx="3329597" cy="3192963"/>
          </a:xfrm>
          <a:prstGeom prst="rect">
            <a:avLst/>
          </a:prstGeom>
        </p:spPr>
      </p:pic>
      <p:pic>
        <p:nvPicPr>
          <p:cNvPr id="4" name="Content Placeholder 3" descr="A pie chart with numbers and a number of different colors&#10;&#10;Description automatically generated">
            <a:extLst>
              <a:ext uri="{FF2B5EF4-FFF2-40B4-BE49-F238E27FC236}">
                <a16:creationId xmlns:a16="http://schemas.microsoft.com/office/drawing/2014/main" id="{B1A05A5E-DFCB-A785-F3E7-C915249C1BD8}"/>
              </a:ext>
            </a:extLst>
          </p:cNvPr>
          <p:cNvPicPr>
            <a:picLocks noChangeAspect="1"/>
          </p:cNvPicPr>
          <p:nvPr/>
        </p:nvPicPr>
        <p:blipFill>
          <a:blip r:embed="rId4"/>
          <a:stretch>
            <a:fillRect/>
          </a:stretch>
        </p:blipFill>
        <p:spPr>
          <a:xfrm>
            <a:off x="8201287" y="1559045"/>
            <a:ext cx="3330006" cy="3193356"/>
          </a:xfrm>
          <a:prstGeom prst="rect">
            <a:avLst/>
          </a:prstGeom>
        </p:spPr>
      </p:pic>
    </p:spTree>
    <p:extLst>
      <p:ext uri="{BB962C8B-B14F-4D97-AF65-F5344CB8AC3E}">
        <p14:creationId xmlns:p14="http://schemas.microsoft.com/office/powerpoint/2010/main" val="29474022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6F768-6DE0-7AB8-16BE-FEC4375D767B}"/>
              </a:ext>
            </a:extLst>
          </p:cNvPr>
          <p:cNvSpPr>
            <a:spLocks noGrp="1"/>
          </p:cNvSpPr>
          <p:nvPr>
            <p:ph type="title"/>
          </p:nvPr>
        </p:nvSpPr>
        <p:spPr>
          <a:xfrm>
            <a:off x="1901254" y="398253"/>
            <a:ext cx="10004336" cy="573656"/>
          </a:xfrm>
        </p:spPr>
        <p:txBody>
          <a:bodyPr>
            <a:normAutofit/>
          </a:bodyPr>
          <a:lstStyle/>
          <a:p>
            <a:pPr algn="l">
              <a:lnSpc>
                <a:spcPct val="120000"/>
              </a:lnSpc>
              <a:spcBef>
                <a:spcPct val="20000"/>
              </a:spcBef>
              <a:spcAft>
                <a:spcPts val="600"/>
              </a:spcAft>
            </a:pPr>
            <a:r>
              <a:rPr lang="en-US" sz="2000" b="1" i="1" dirty="0">
                <a:latin typeface="Times New Roman"/>
                <a:cs typeface="Times New Roman"/>
              </a:rPr>
              <a:t>4. WHO Regions</a:t>
            </a:r>
            <a:r>
              <a:rPr lang="en-US" sz="2000" b="1" dirty="0">
                <a:latin typeface="Times New Roman"/>
                <a:cs typeface="Times New Roman"/>
              </a:rPr>
              <a:t> </a:t>
            </a:r>
            <a:r>
              <a:rPr lang="en-US" sz="2000" dirty="0">
                <a:latin typeface="Times New Roman"/>
                <a:cs typeface="Times New Roman"/>
              </a:rPr>
              <a:t>by </a:t>
            </a:r>
            <a:r>
              <a:rPr lang="en-US" sz="2000" b="1" dirty="0">
                <a:solidFill>
                  <a:schemeClr val="tx1">
                    <a:lumMod val="65000"/>
                    <a:lumOff val="35000"/>
                  </a:schemeClr>
                </a:solidFill>
                <a:latin typeface="Times New Roman"/>
                <a:cs typeface="Times New Roman"/>
              </a:rPr>
              <a:t>Life expectancy (at birth)</a:t>
            </a:r>
            <a:r>
              <a:rPr lang="en-US" sz="2000" b="1" dirty="0">
                <a:latin typeface="Times New Roman"/>
                <a:cs typeface="Times New Roman"/>
              </a:rPr>
              <a:t> </a:t>
            </a:r>
            <a:r>
              <a:rPr lang="en-US" sz="2000" dirty="0">
                <a:latin typeface="Times New Roman"/>
                <a:cs typeface="Times New Roman"/>
              </a:rPr>
              <a:t>and </a:t>
            </a:r>
            <a:r>
              <a:rPr lang="en-US" sz="2000" b="1" dirty="0">
                <a:solidFill>
                  <a:schemeClr val="accent1"/>
                </a:solidFill>
                <a:latin typeface="Times New Roman"/>
                <a:cs typeface="Times New Roman"/>
              </a:rPr>
              <a:t>Healthy life expectancy (at birth)</a:t>
            </a:r>
            <a:endParaRPr lang="en-US" sz="2000">
              <a:solidFill>
                <a:schemeClr val="accent1"/>
              </a:solidFill>
              <a:latin typeface="Times New Roman"/>
              <a:cs typeface="Times New Roman"/>
            </a:endParaRPr>
          </a:p>
          <a:p>
            <a:endParaRPr lang="en-US" dirty="0"/>
          </a:p>
        </p:txBody>
      </p:sp>
      <p:sp>
        <p:nvSpPr>
          <p:cNvPr id="3" name="Text Placeholder 2">
            <a:extLst>
              <a:ext uri="{FF2B5EF4-FFF2-40B4-BE49-F238E27FC236}">
                <a16:creationId xmlns:a16="http://schemas.microsoft.com/office/drawing/2014/main" id="{BA794E5D-5858-12D3-1BC0-9467ECBAD8C1}"/>
              </a:ext>
            </a:extLst>
          </p:cNvPr>
          <p:cNvSpPr>
            <a:spLocks noGrp="1"/>
          </p:cNvSpPr>
          <p:nvPr>
            <p:ph type="body" idx="1"/>
          </p:nvPr>
        </p:nvSpPr>
        <p:spPr>
          <a:xfrm>
            <a:off x="1484633" y="602570"/>
            <a:ext cx="4750961" cy="1021960"/>
          </a:xfrm>
        </p:spPr>
        <p:txBody>
          <a:bodyPr/>
          <a:lstStyle/>
          <a:p>
            <a:r>
              <a:rPr lang="en-US" sz="1400" dirty="0">
                <a:solidFill>
                  <a:schemeClr val="tx1">
                    <a:lumMod val="65000"/>
                    <a:lumOff val="35000"/>
                  </a:schemeClr>
                </a:solidFill>
                <a:latin typeface="Times New Roman"/>
                <a:ea typeface="+mn-lt"/>
                <a:cs typeface="+mn-lt"/>
              </a:rPr>
              <a:t>Having a first look at the relational plot for WHO regions we can determine that women have a higher "Life expectancy" and </a:t>
            </a:r>
            <a:r>
              <a:rPr lang="en-US" sz="1400" dirty="0">
                <a:solidFill>
                  <a:schemeClr val="accent1"/>
                </a:solidFill>
                <a:latin typeface="Times New Roman"/>
                <a:ea typeface="+mn-lt"/>
                <a:cs typeface="+mn-lt"/>
              </a:rPr>
              <a:t>" Healthy life expectancy(at birth)"</a:t>
            </a:r>
            <a:r>
              <a:rPr lang="en-US" sz="1400" dirty="0">
                <a:solidFill>
                  <a:schemeClr val="tx1">
                    <a:lumMod val="65000"/>
                    <a:lumOff val="35000"/>
                  </a:schemeClr>
                </a:solidFill>
                <a:latin typeface="Times New Roman"/>
                <a:ea typeface="+mn-lt"/>
                <a:cs typeface="+mn-lt"/>
              </a:rPr>
              <a:t> than men throughout all regions.</a:t>
            </a:r>
            <a:endParaRPr lang="en-US" sz="1400">
              <a:solidFill>
                <a:schemeClr val="tx1">
                  <a:lumMod val="65000"/>
                  <a:lumOff val="35000"/>
                </a:schemeClr>
              </a:solidFill>
              <a:latin typeface="Times New Roman"/>
            </a:endParaRPr>
          </a:p>
        </p:txBody>
      </p:sp>
      <p:sp>
        <p:nvSpPr>
          <p:cNvPr id="5" name="Text Placeholder 4">
            <a:extLst>
              <a:ext uri="{FF2B5EF4-FFF2-40B4-BE49-F238E27FC236}">
                <a16:creationId xmlns:a16="http://schemas.microsoft.com/office/drawing/2014/main" id="{733772D1-F20B-A758-A263-E0CAA6C5F007}"/>
              </a:ext>
            </a:extLst>
          </p:cNvPr>
          <p:cNvSpPr>
            <a:spLocks noGrp="1"/>
          </p:cNvSpPr>
          <p:nvPr>
            <p:ph type="body" sz="quarter" idx="3"/>
          </p:nvPr>
        </p:nvSpPr>
        <p:spPr>
          <a:xfrm>
            <a:off x="6391656" y="711681"/>
            <a:ext cx="5528310" cy="1007582"/>
          </a:xfrm>
        </p:spPr>
        <p:txBody>
          <a:bodyPr vert="horz" lIns="91440" tIns="45720" rIns="91440" bIns="45720" rtlCol="0" anchor="t">
            <a:noAutofit/>
          </a:bodyPr>
          <a:lstStyle/>
          <a:p>
            <a:r>
              <a:rPr lang="en-US" sz="1400" dirty="0">
                <a:solidFill>
                  <a:schemeClr val="accent1"/>
                </a:solidFill>
                <a:latin typeface="Times New Roman"/>
                <a:ea typeface="+mn-lt"/>
                <a:cs typeface="+mn-lt"/>
              </a:rPr>
              <a:t>Healthy life expectancy has remained much lower than </a:t>
            </a:r>
            <a:r>
              <a:rPr lang="en-US" sz="1400" dirty="0">
                <a:solidFill>
                  <a:schemeClr val="tx1">
                    <a:lumMod val="65000"/>
                    <a:lumOff val="35000"/>
                  </a:schemeClr>
                </a:solidFill>
                <a:latin typeface="Times New Roman"/>
                <a:ea typeface="+mn-lt"/>
                <a:cs typeface="+mn-lt"/>
              </a:rPr>
              <a:t>life expectancy</a:t>
            </a:r>
            <a:r>
              <a:rPr lang="en-US" sz="1400" dirty="0">
                <a:solidFill>
                  <a:schemeClr val="accent1"/>
                </a:solidFill>
                <a:latin typeface="Times New Roman"/>
                <a:ea typeface="+mn-lt"/>
                <a:cs typeface="+mn-lt"/>
              </a:rPr>
              <a:t>. Although females live longer than males, there is little difference in the level of healthy life expectancy.</a:t>
            </a:r>
            <a:endParaRPr lang="en-US">
              <a:solidFill>
                <a:schemeClr val="accent1"/>
              </a:solidFill>
              <a:latin typeface="Times New Roman"/>
              <a:cs typeface="Times New Roman"/>
            </a:endParaRPr>
          </a:p>
        </p:txBody>
      </p:sp>
      <p:pic>
        <p:nvPicPr>
          <p:cNvPr id="12" name="Content Placeholder 11" descr="A graph of different colored circles&#10;&#10;Description automatically generated">
            <a:extLst>
              <a:ext uri="{FF2B5EF4-FFF2-40B4-BE49-F238E27FC236}">
                <a16:creationId xmlns:a16="http://schemas.microsoft.com/office/drawing/2014/main" id="{13AC65BB-6C7E-841D-E581-4CE54CDEEA08}"/>
              </a:ext>
            </a:extLst>
          </p:cNvPr>
          <p:cNvPicPr>
            <a:picLocks noGrp="1" noChangeAspect="1"/>
          </p:cNvPicPr>
          <p:nvPr>
            <p:ph sz="half" idx="2"/>
          </p:nvPr>
        </p:nvPicPr>
        <p:blipFill>
          <a:blip r:embed="rId2"/>
          <a:stretch>
            <a:fillRect/>
          </a:stretch>
        </p:blipFill>
        <p:spPr>
          <a:xfrm>
            <a:off x="6721366" y="1624431"/>
            <a:ext cx="4858908" cy="5015030"/>
          </a:xfrm>
        </p:spPr>
      </p:pic>
      <p:pic>
        <p:nvPicPr>
          <p:cNvPr id="13" name="Content Placeholder 12" descr="A graph of different colored circles&#10;&#10;Description automatically generated">
            <a:extLst>
              <a:ext uri="{FF2B5EF4-FFF2-40B4-BE49-F238E27FC236}">
                <a16:creationId xmlns:a16="http://schemas.microsoft.com/office/drawing/2014/main" id="{E931FAFB-F342-4942-1CAE-7A3466BACE2E}"/>
              </a:ext>
            </a:extLst>
          </p:cNvPr>
          <p:cNvPicPr>
            <a:picLocks noGrp="1" noChangeAspect="1"/>
          </p:cNvPicPr>
          <p:nvPr>
            <p:ph sz="quarter" idx="4"/>
          </p:nvPr>
        </p:nvPicPr>
        <p:blipFill>
          <a:blip r:embed="rId3"/>
          <a:stretch>
            <a:fillRect/>
          </a:stretch>
        </p:blipFill>
        <p:spPr>
          <a:xfrm>
            <a:off x="1488882" y="1624430"/>
            <a:ext cx="4867791" cy="5015032"/>
          </a:xfrm>
        </p:spPr>
      </p:pic>
    </p:spTree>
    <p:extLst>
      <p:ext uri="{BB962C8B-B14F-4D97-AF65-F5344CB8AC3E}">
        <p14:creationId xmlns:p14="http://schemas.microsoft.com/office/powerpoint/2010/main" val="11545693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74D30-C342-9CD0-17E8-9922F8035A1A}"/>
              </a:ext>
            </a:extLst>
          </p:cNvPr>
          <p:cNvSpPr>
            <a:spLocks noGrp="1"/>
          </p:cNvSpPr>
          <p:nvPr>
            <p:ph type="title"/>
          </p:nvPr>
        </p:nvSpPr>
        <p:spPr>
          <a:xfrm>
            <a:off x="1383670" y="1030857"/>
            <a:ext cx="10004336" cy="458637"/>
          </a:xfrm>
        </p:spPr>
        <p:txBody>
          <a:bodyPr vert="horz" lIns="91440" tIns="45720" rIns="91440" bIns="45720" rtlCol="0" anchor="ctr">
            <a:noAutofit/>
          </a:bodyPr>
          <a:lstStyle/>
          <a:p>
            <a:pPr>
              <a:lnSpc>
                <a:spcPct val="90000"/>
              </a:lnSpc>
              <a:spcBef>
                <a:spcPct val="20000"/>
              </a:spcBef>
              <a:spcAft>
                <a:spcPts val="600"/>
              </a:spcAft>
            </a:pPr>
            <a:r>
              <a:rPr lang="en-US" sz="2400" b="1" i="1" dirty="0">
                <a:latin typeface="Times New Roman"/>
                <a:cs typeface="Times New Roman"/>
              </a:rPr>
              <a:t>5.1 </a:t>
            </a:r>
            <a:r>
              <a:rPr lang="en-US" sz="2400" b="1" i="1" err="1">
                <a:latin typeface="Times New Roman"/>
                <a:cs typeface="Times New Roman"/>
              </a:rPr>
              <a:t>Analysing</a:t>
            </a:r>
            <a:r>
              <a:rPr lang="en-US" sz="2400" b="1" i="1" dirty="0">
                <a:latin typeface="Times New Roman"/>
                <a:cs typeface="Times New Roman"/>
              </a:rPr>
              <a:t> and comparing WHO regions - AFRICA and EUROPE</a:t>
            </a:r>
            <a:br>
              <a:rPr lang="en-US" sz="2400" b="1" i="1" dirty="0">
                <a:latin typeface="Times New Roman"/>
                <a:cs typeface="Times New Roman"/>
              </a:rPr>
            </a:br>
            <a:r>
              <a:rPr lang="en-US" sz="2400" b="1" dirty="0">
                <a:solidFill>
                  <a:schemeClr val="tx1">
                    <a:lumMod val="65000"/>
                    <a:lumOff val="35000"/>
                  </a:schemeClr>
                </a:solidFill>
                <a:latin typeface="Times New Roman"/>
                <a:cs typeface="Times New Roman"/>
              </a:rPr>
              <a:t>Life expectancy (at birth)</a:t>
            </a:r>
            <a:r>
              <a:rPr lang="en-US" sz="2400" dirty="0">
                <a:solidFill>
                  <a:schemeClr val="bg2">
                    <a:lumMod val="49000"/>
                  </a:schemeClr>
                </a:solidFill>
                <a:latin typeface="Times New Roman"/>
                <a:cs typeface="Times New Roman"/>
              </a:rPr>
              <a:t> </a:t>
            </a:r>
            <a:r>
              <a:rPr lang="en-US" sz="2200" b="1" dirty="0">
                <a:solidFill>
                  <a:schemeClr val="bg2">
                    <a:lumMod val="49000"/>
                  </a:schemeClr>
                </a:solidFill>
                <a:latin typeface="Times New Roman"/>
                <a:cs typeface="Times New Roman"/>
              </a:rPr>
              <a:t>between 2000 - 2021</a:t>
            </a:r>
            <a:endParaRPr lang="en-US" sz="2400" b="1" dirty="0">
              <a:solidFill>
                <a:schemeClr val="bg2">
                  <a:lumMod val="49000"/>
                </a:schemeClr>
              </a:solidFill>
              <a:latin typeface="Times New Roman"/>
              <a:cs typeface="Times New Roman"/>
            </a:endParaRPr>
          </a:p>
          <a:p>
            <a:pPr>
              <a:lnSpc>
                <a:spcPct val="90000"/>
              </a:lnSpc>
            </a:pPr>
            <a:endParaRPr lang="en-US" sz="1800" dirty="0">
              <a:latin typeface="Corbel"/>
              <a:cs typeface="Times New Roman"/>
            </a:endParaRPr>
          </a:p>
          <a:p>
            <a:pPr>
              <a:lnSpc>
                <a:spcPct val="120000"/>
              </a:lnSpc>
              <a:spcBef>
                <a:spcPct val="20000"/>
              </a:spcBef>
              <a:spcAft>
                <a:spcPts val="600"/>
              </a:spcAft>
            </a:pPr>
            <a:endParaRPr lang="en-US" sz="2400" b="1" i="1" dirty="0">
              <a:latin typeface="Times New Roman"/>
              <a:cs typeface="Times New Roman"/>
            </a:endParaRPr>
          </a:p>
          <a:p>
            <a:endParaRPr lang="en-US" dirty="0"/>
          </a:p>
        </p:txBody>
      </p:sp>
      <p:pic>
        <p:nvPicPr>
          <p:cNvPr id="9" name="Content Placeholder 8" descr="A graph of life expectancy&#10;&#10;Description automatically generated">
            <a:extLst>
              <a:ext uri="{FF2B5EF4-FFF2-40B4-BE49-F238E27FC236}">
                <a16:creationId xmlns:a16="http://schemas.microsoft.com/office/drawing/2014/main" id="{AC2D2B4F-0CB4-E11C-7D63-39C5556ADCAD}"/>
              </a:ext>
            </a:extLst>
          </p:cNvPr>
          <p:cNvPicPr>
            <a:picLocks noGrp="1" noChangeAspect="1"/>
          </p:cNvPicPr>
          <p:nvPr>
            <p:ph sz="half" idx="2"/>
          </p:nvPr>
        </p:nvPicPr>
        <p:blipFill>
          <a:blip r:embed="rId2"/>
          <a:stretch>
            <a:fillRect/>
          </a:stretch>
        </p:blipFill>
        <p:spPr>
          <a:xfrm>
            <a:off x="6666824" y="1027982"/>
            <a:ext cx="5050512" cy="4518804"/>
          </a:xfrm>
        </p:spPr>
      </p:pic>
      <p:pic>
        <p:nvPicPr>
          <p:cNvPr id="8" name="Content Placeholder 7" descr="A graph of different colored lines&#10;&#10;Description automatically generated">
            <a:extLst>
              <a:ext uri="{FF2B5EF4-FFF2-40B4-BE49-F238E27FC236}">
                <a16:creationId xmlns:a16="http://schemas.microsoft.com/office/drawing/2014/main" id="{36D8A6F1-6BE2-B78F-821F-D5C1E4C137AF}"/>
              </a:ext>
            </a:extLst>
          </p:cNvPr>
          <p:cNvPicPr>
            <a:picLocks noGrp="1" noChangeAspect="1"/>
          </p:cNvPicPr>
          <p:nvPr>
            <p:ph sz="half" idx="1"/>
          </p:nvPr>
        </p:nvPicPr>
        <p:blipFill>
          <a:blip r:embed="rId3"/>
          <a:stretch>
            <a:fillRect/>
          </a:stretch>
        </p:blipFill>
        <p:spPr>
          <a:xfrm>
            <a:off x="1382228" y="1027982"/>
            <a:ext cx="4998580" cy="4518803"/>
          </a:xfrm>
        </p:spPr>
      </p:pic>
      <p:sp>
        <p:nvSpPr>
          <p:cNvPr id="10" name="TextBox 9">
            <a:extLst>
              <a:ext uri="{FF2B5EF4-FFF2-40B4-BE49-F238E27FC236}">
                <a16:creationId xmlns:a16="http://schemas.microsoft.com/office/drawing/2014/main" id="{2397166A-AC35-096F-509A-BADBD5F0E2F3}"/>
              </a:ext>
            </a:extLst>
          </p:cNvPr>
          <p:cNvSpPr txBox="1"/>
          <p:nvPr/>
        </p:nvSpPr>
        <p:spPr>
          <a:xfrm>
            <a:off x="2429772" y="5775187"/>
            <a:ext cx="9511044"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latin typeface="Times New Roman"/>
                <a:ea typeface="+mn-lt"/>
                <a:cs typeface="+mn-lt"/>
              </a:rPr>
              <a:t>In summary, while </a:t>
            </a:r>
            <a:r>
              <a:rPr lang="en-US" sz="1600" dirty="0">
                <a:solidFill>
                  <a:srgbClr val="000000"/>
                </a:solidFill>
                <a:latin typeface="Times New Roman"/>
                <a:ea typeface="+mn-lt"/>
                <a:cs typeface="+mn-lt"/>
              </a:rPr>
              <a:t>life expectancy</a:t>
            </a:r>
            <a:r>
              <a:rPr lang="en-US" sz="1600" dirty="0">
                <a:latin typeface="Times New Roman"/>
                <a:ea typeface="+mn-lt"/>
                <a:cs typeface="+mn-lt"/>
              </a:rPr>
              <a:t> has improved worldwide, disparities exist between regions.</a:t>
            </a:r>
            <a:endParaRPr lang="en-US" sz="1600" dirty="0">
              <a:latin typeface="Times New Roman"/>
              <a:ea typeface="+mn-lt"/>
              <a:cs typeface="Times New Roman"/>
            </a:endParaRPr>
          </a:p>
          <a:p>
            <a:r>
              <a:rPr lang="en-US" sz="1600" dirty="0">
                <a:latin typeface="Times New Roman"/>
                <a:ea typeface="+mn-lt"/>
                <a:cs typeface="+mn-lt"/>
              </a:rPr>
              <a:t>However, it’s essential to note that the average life expectancy in Africa is just under 61 years, indicating that health challenges impact both longevity and quality of life in the region. </a:t>
            </a:r>
            <a:endParaRPr lang="en-US" sz="1600" dirty="0">
              <a:latin typeface="Times New Roman"/>
              <a:ea typeface="+mn-lt"/>
              <a:cs typeface="Times New Roman"/>
            </a:endParaRPr>
          </a:p>
          <a:p>
            <a:r>
              <a:rPr lang="en-US" sz="1600" dirty="0">
                <a:latin typeface="Times New Roman"/>
                <a:ea typeface="+mn-lt"/>
                <a:cs typeface="+mn-lt"/>
              </a:rPr>
              <a:t>Europe tends to have a </a:t>
            </a:r>
            <a:r>
              <a:rPr lang="en-US" sz="1600" dirty="0">
                <a:latin typeface="Times New Roman"/>
                <a:ea typeface="+mn-lt"/>
                <a:cs typeface="Times New Roman"/>
              </a:rPr>
              <a:t>higher </a:t>
            </a:r>
            <a:r>
              <a:rPr lang="en-US" sz="1600" dirty="0">
                <a:latin typeface="Times New Roman"/>
                <a:ea typeface="+mn-lt"/>
                <a:cs typeface="+mn-lt"/>
              </a:rPr>
              <a:t>average life expectancy of almost 76 years.</a:t>
            </a:r>
            <a:endParaRPr lang="en-US" sz="1600" dirty="0">
              <a:latin typeface="Times New Roman"/>
              <a:cs typeface="Times New Roman"/>
            </a:endParaRPr>
          </a:p>
        </p:txBody>
      </p:sp>
    </p:spTree>
    <p:extLst>
      <p:ext uri="{BB962C8B-B14F-4D97-AF65-F5344CB8AC3E}">
        <p14:creationId xmlns:p14="http://schemas.microsoft.com/office/powerpoint/2010/main" val="12076230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45D23-B25F-86D3-7502-39D4D239C142}"/>
              </a:ext>
            </a:extLst>
          </p:cNvPr>
          <p:cNvSpPr>
            <a:spLocks noGrp="1"/>
          </p:cNvSpPr>
          <p:nvPr>
            <p:ph type="title"/>
          </p:nvPr>
        </p:nvSpPr>
        <p:spPr>
          <a:xfrm>
            <a:off x="1613707" y="340743"/>
            <a:ext cx="10004336" cy="616788"/>
          </a:xfrm>
        </p:spPr>
        <p:txBody>
          <a:bodyPr>
            <a:normAutofit fontScale="90000"/>
          </a:bodyPr>
          <a:lstStyle/>
          <a:p>
            <a:r>
              <a:rPr lang="en-US" sz="2700" b="1" i="1" dirty="0">
                <a:latin typeface="Times New Roman"/>
                <a:cs typeface="Times New Roman"/>
              </a:rPr>
              <a:t>5.2  </a:t>
            </a:r>
            <a:r>
              <a:rPr lang="en-US" sz="2700" b="1" i="1" err="1">
                <a:latin typeface="Times New Roman"/>
                <a:cs typeface="Times New Roman"/>
              </a:rPr>
              <a:t>Analysing</a:t>
            </a:r>
            <a:r>
              <a:rPr lang="en-US" sz="2700" b="1" i="1" dirty="0">
                <a:latin typeface="Times New Roman"/>
                <a:cs typeface="Times New Roman"/>
              </a:rPr>
              <a:t> and comparing WHO regions - AFRICA and EUROPE</a:t>
            </a:r>
            <a:br>
              <a:rPr lang="en-US" sz="2700" b="1" i="1" dirty="0">
                <a:latin typeface="Times New Roman"/>
                <a:cs typeface="Times New Roman"/>
              </a:rPr>
            </a:br>
            <a:r>
              <a:rPr lang="en-US" sz="2400" b="1" dirty="0">
                <a:solidFill>
                  <a:schemeClr val="accent1"/>
                </a:solidFill>
                <a:latin typeface="Times New Roman"/>
                <a:cs typeface="Times New Roman"/>
              </a:rPr>
              <a:t> Healthy life expectancy (at birth) between 2000 - 2021</a:t>
            </a:r>
            <a:endParaRPr lang="en-US" sz="2400" dirty="0">
              <a:solidFill>
                <a:schemeClr val="accent1"/>
              </a:solidFill>
            </a:endParaRPr>
          </a:p>
        </p:txBody>
      </p:sp>
      <p:pic>
        <p:nvPicPr>
          <p:cNvPr id="5" name="Content Placeholder 4" descr="A graph of different colored bars&#10;&#10;Description automatically generated">
            <a:extLst>
              <a:ext uri="{FF2B5EF4-FFF2-40B4-BE49-F238E27FC236}">
                <a16:creationId xmlns:a16="http://schemas.microsoft.com/office/drawing/2014/main" id="{23D51367-2386-9098-61FD-4B4EE423D770}"/>
              </a:ext>
            </a:extLst>
          </p:cNvPr>
          <p:cNvPicPr>
            <a:picLocks noGrp="1" noChangeAspect="1"/>
          </p:cNvPicPr>
          <p:nvPr>
            <p:ph sz="half" idx="1"/>
          </p:nvPr>
        </p:nvPicPr>
        <p:blipFill>
          <a:blip r:embed="rId2"/>
          <a:stretch>
            <a:fillRect/>
          </a:stretch>
        </p:blipFill>
        <p:spPr>
          <a:xfrm>
            <a:off x="1448151" y="1256761"/>
            <a:ext cx="4909866" cy="4722602"/>
          </a:xfrm>
        </p:spPr>
      </p:pic>
      <p:pic>
        <p:nvPicPr>
          <p:cNvPr id="6" name="Content Placeholder 5" descr="A graph of different colored bars&#10;&#10;Description automatically generated">
            <a:extLst>
              <a:ext uri="{FF2B5EF4-FFF2-40B4-BE49-F238E27FC236}">
                <a16:creationId xmlns:a16="http://schemas.microsoft.com/office/drawing/2014/main" id="{0F7E07A1-4E62-D8F5-8DAF-CFA2BF6852C1}"/>
              </a:ext>
            </a:extLst>
          </p:cNvPr>
          <p:cNvPicPr>
            <a:picLocks noGrp="1" noChangeAspect="1"/>
          </p:cNvPicPr>
          <p:nvPr>
            <p:ph sz="half" idx="2"/>
          </p:nvPr>
        </p:nvPicPr>
        <p:blipFill>
          <a:blip r:embed="rId3"/>
          <a:stretch>
            <a:fillRect/>
          </a:stretch>
        </p:blipFill>
        <p:spPr>
          <a:xfrm>
            <a:off x="6715490" y="1261343"/>
            <a:ext cx="4895670" cy="4727813"/>
          </a:xfrm>
        </p:spPr>
      </p:pic>
      <p:sp>
        <p:nvSpPr>
          <p:cNvPr id="7" name="TextBox 6">
            <a:extLst>
              <a:ext uri="{FF2B5EF4-FFF2-40B4-BE49-F238E27FC236}">
                <a16:creationId xmlns:a16="http://schemas.microsoft.com/office/drawing/2014/main" id="{7EC785B2-8503-7CA4-DB03-309223EC7BA1}"/>
              </a:ext>
            </a:extLst>
          </p:cNvPr>
          <p:cNvSpPr txBox="1"/>
          <p:nvPr/>
        </p:nvSpPr>
        <p:spPr>
          <a:xfrm>
            <a:off x="2480235" y="6215529"/>
            <a:ext cx="9069294"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0" i="0" u="none" strike="noStrike" baseline="0" dirty="0">
                <a:solidFill>
                  <a:srgbClr val="000000"/>
                </a:solidFill>
                <a:latin typeface="Times New Roman"/>
                <a:ea typeface="+mn-lt"/>
                <a:cs typeface="+mn-lt"/>
              </a:rPr>
              <a:t>The average healthy life expectancy for </a:t>
            </a:r>
            <a:r>
              <a:rPr lang="en-US" sz="1600" dirty="0">
                <a:solidFill>
                  <a:srgbClr val="000000"/>
                </a:solidFill>
                <a:latin typeface="Times New Roman"/>
                <a:ea typeface="+mn-lt"/>
                <a:cs typeface="+mn-lt"/>
              </a:rPr>
              <a:t>a person </a:t>
            </a:r>
            <a:r>
              <a:rPr lang="en-US" sz="1600" b="0" i="0" u="none" strike="noStrike" baseline="0" dirty="0">
                <a:solidFill>
                  <a:srgbClr val="000000"/>
                </a:solidFill>
                <a:latin typeface="Times New Roman"/>
                <a:ea typeface="+mn-lt"/>
                <a:cs typeface="+mn-lt"/>
              </a:rPr>
              <a:t>in Africa was </a:t>
            </a:r>
            <a:r>
              <a:rPr lang="en-US" sz="1600" dirty="0">
                <a:solidFill>
                  <a:srgbClr val="000000"/>
                </a:solidFill>
                <a:latin typeface="Times New Roman"/>
                <a:ea typeface="+mn-lt"/>
                <a:cs typeface="+mn-lt"/>
              </a:rPr>
              <a:t>about 53 years, compared to 66 years in Europe between 2000 and 2021</a:t>
            </a:r>
            <a:r>
              <a:rPr lang="en-US" sz="1600" b="0" i="0" u="none" strike="noStrike" baseline="0" dirty="0">
                <a:solidFill>
                  <a:srgbClr val="000000"/>
                </a:solidFill>
                <a:latin typeface="Times New Roman"/>
                <a:ea typeface="+mn-lt"/>
                <a:cs typeface="+mn-lt"/>
              </a:rPr>
              <a:t>.</a:t>
            </a:r>
            <a:r>
              <a:rPr lang="en-US" sz="1600" dirty="0">
                <a:solidFill>
                  <a:srgbClr val="000000"/>
                </a:solidFill>
                <a:latin typeface="Times New Roman"/>
                <a:ea typeface="Times New Roman"/>
                <a:cs typeface="Times New Roman"/>
              </a:rPr>
              <a:t> </a:t>
            </a:r>
            <a:r>
              <a:rPr lang="en-US" sz="1600" b="0" i="0" u="none" strike="noStrike" baseline="0" dirty="0">
                <a:solidFill>
                  <a:srgbClr val="000000"/>
                </a:solidFill>
                <a:latin typeface="Times New Roman"/>
                <a:ea typeface="Times New Roman"/>
                <a:cs typeface="Times New Roman"/>
              </a:rPr>
              <a:t> </a:t>
            </a:r>
            <a:endParaRPr lang="en-US" dirty="0"/>
          </a:p>
        </p:txBody>
      </p:sp>
    </p:spTree>
    <p:extLst>
      <p:ext uri="{BB962C8B-B14F-4D97-AF65-F5344CB8AC3E}">
        <p14:creationId xmlns:p14="http://schemas.microsoft.com/office/powerpoint/2010/main" val="15227056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E3D4922-3D1C-4679-9A86-15BFC1A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164E9BCF-1B67-4514-808C-A5DCBDEB4A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1"/>
            <a:ext cx="4403709"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2" name="Group 11">
            <a:extLst>
              <a:ext uri="{FF2B5EF4-FFF2-40B4-BE49-F238E27FC236}">
                <a16:creationId xmlns:a16="http://schemas.microsoft.com/office/drawing/2014/main" id="{32238778-9D1D-45F4-BB78-76F208A224B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315292" y="0"/>
            <a:ext cx="2436813" cy="6858001"/>
            <a:chOff x="1320800" y="0"/>
            <a:chExt cx="2436813" cy="6858001"/>
          </a:xfrm>
        </p:grpSpPr>
        <p:sp>
          <p:nvSpPr>
            <p:cNvPr id="13" name="Freeform 6">
              <a:extLst>
                <a:ext uri="{FF2B5EF4-FFF2-40B4-BE49-F238E27FC236}">
                  <a16:creationId xmlns:a16="http://schemas.microsoft.com/office/drawing/2014/main" id="{93667F4D-F2CD-4E50-BACC-24766910F7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14" name="Freeform 7">
              <a:extLst>
                <a:ext uri="{FF2B5EF4-FFF2-40B4-BE49-F238E27FC236}">
                  <a16:creationId xmlns:a16="http://schemas.microsoft.com/office/drawing/2014/main" id="{20CAAE25-D2F2-493F-9569-EC552C1ADD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5" name="Freeform 8">
              <a:extLst>
                <a:ext uri="{FF2B5EF4-FFF2-40B4-BE49-F238E27FC236}">
                  <a16:creationId xmlns:a16="http://schemas.microsoft.com/office/drawing/2014/main" id="{42D5E996-541D-42BA-8B22-F7E96752CE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6" name="Freeform 9">
              <a:extLst>
                <a:ext uri="{FF2B5EF4-FFF2-40B4-BE49-F238E27FC236}">
                  <a16:creationId xmlns:a16="http://schemas.microsoft.com/office/drawing/2014/main" id="{6BDB86F1-7C07-4D49-B9C9-7837A1FB25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7" name="Freeform 10">
              <a:extLst>
                <a:ext uri="{FF2B5EF4-FFF2-40B4-BE49-F238E27FC236}">
                  <a16:creationId xmlns:a16="http://schemas.microsoft.com/office/drawing/2014/main" id="{92FDEA97-0861-44C0-9B26-4BB5F777AE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8" name="Freeform 11">
              <a:extLst>
                <a:ext uri="{FF2B5EF4-FFF2-40B4-BE49-F238E27FC236}">
                  <a16:creationId xmlns:a16="http://schemas.microsoft.com/office/drawing/2014/main" id="{A9F3AA02-C861-444A-9178-0BD3D3CE16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3" name="Content Placeholder 2">
            <a:extLst>
              <a:ext uri="{FF2B5EF4-FFF2-40B4-BE49-F238E27FC236}">
                <a16:creationId xmlns:a16="http://schemas.microsoft.com/office/drawing/2014/main" id="{A0AA7AAB-2305-92D6-9F57-7566652051C2}"/>
              </a:ext>
            </a:extLst>
          </p:cNvPr>
          <p:cNvSpPr>
            <a:spLocks noGrp="1"/>
          </p:cNvSpPr>
          <p:nvPr>
            <p:ph type="subTitle" idx="1"/>
          </p:nvPr>
        </p:nvSpPr>
        <p:spPr>
          <a:xfrm>
            <a:off x="111506" y="217237"/>
            <a:ext cx="4026759" cy="1254645"/>
          </a:xfrm>
        </p:spPr>
        <p:txBody>
          <a:bodyPr anchor="ctr">
            <a:normAutofit fontScale="77500" lnSpcReduction="20000"/>
          </a:bodyPr>
          <a:lstStyle/>
          <a:p>
            <a:pPr algn="ctr"/>
            <a:r>
              <a:rPr lang="en-US" sz="2800" b="1" i="1" dirty="0">
                <a:solidFill>
                  <a:srgbClr val="000000"/>
                </a:solidFill>
                <a:latin typeface="Times New Roman"/>
                <a:cs typeface="Times New Roman"/>
              </a:rPr>
              <a:t>6. Top 10 Countries </a:t>
            </a:r>
            <a:endParaRPr lang="en-US" sz="2800" dirty="0">
              <a:solidFill>
                <a:srgbClr val="000000"/>
              </a:solidFill>
              <a:latin typeface="Corbel" panose="020B0503020204020204"/>
              <a:cs typeface="Times New Roman"/>
            </a:endParaRPr>
          </a:p>
          <a:p>
            <a:pPr algn="ctr"/>
            <a:r>
              <a:rPr lang="en-US" sz="2800" b="1" i="1" dirty="0">
                <a:solidFill>
                  <a:srgbClr val="000000"/>
                </a:solidFill>
                <a:latin typeface="Times New Roman"/>
                <a:cs typeface="Times New Roman"/>
              </a:rPr>
              <a:t>- </a:t>
            </a:r>
            <a:r>
              <a:rPr lang="en-US" sz="2800" b="1" dirty="0">
                <a:solidFill>
                  <a:schemeClr val="bg2">
                    <a:lumMod val="49000"/>
                  </a:schemeClr>
                </a:solidFill>
                <a:latin typeface="Times New Roman"/>
                <a:cs typeface="Times New Roman"/>
              </a:rPr>
              <a:t>Life expectancy</a:t>
            </a:r>
            <a:r>
              <a:rPr lang="en-US" sz="2800" i="1" dirty="0">
                <a:solidFill>
                  <a:srgbClr val="000000"/>
                </a:solidFill>
                <a:latin typeface="Times New Roman"/>
                <a:cs typeface="Times New Roman"/>
              </a:rPr>
              <a:t> </a:t>
            </a:r>
            <a:r>
              <a:rPr lang="en-US" sz="2800" dirty="0">
                <a:solidFill>
                  <a:srgbClr val="000000"/>
                </a:solidFill>
                <a:latin typeface="Times New Roman"/>
                <a:cs typeface="Times New Roman"/>
              </a:rPr>
              <a:t>-</a:t>
            </a:r>
            <a:endParaRPr lang="en-US" sz="2800">
              <a:solidFill>
                <a:srgbClr val="000000"/>
              </a:solidFill>
              <a:latin typeface="Corbel" panose="020B0503020204020204"/>
              <a:cs typeface="Times New Roman"/>
            </a:endParaRPr>
          </a:p>
          <a:p>
            <a:pPr algn="ctr"/>
            <a:r>
              <a:rPr lang="en-US" sz="2800" b="1" dirty="0">
                <a:solidFill>
                  <a:srgbClr val="000000"/>
                </a:solidFill>
                <a:latin typeface="Times New Roman"/>
                <a:cs typeface="Times New Roman"/>
              </a:rPr>
              <a:t>2000 &amp; 2021</a:t>
            </a:r>
            <a:endParaRPr lang="en-US" sz="2800" dirty="0"/>
          </a:p>
        </p:txBody>
      </p:sp>
      <p:pic>
        <p:nvPicPr>
          <p:cNvPr id="5" name="Picture 4" descr="A graph of different colored bars&#10;&#10;Description automatically generated">
            <a:extLst>
              <a:ext uri="{FF2B5EF4-FFF2-40B4-BE49-F238E27FC236}">
                <a16:creationId xmlns:a16="http://schemas.microsoft.com/office/drawing/2014/main" id="{0C258E5C-D4CD-5245-FA48-80DECE715F87}"/>
              </a:ext>
            </a:extLst>
          </p:cNvPr>
          <p:cNvPicPr>
            <a:picLocks noChangeAspect="1"/>
          </p:cNvPicPr>
          <p:nvPr/>
        </p:nvPicPr>
        <p:blipFill>
          <a:blip r:embed="rId3"/>
          <a:stretch>
            <a:fillRect/>
          </a:stretch>
        </p:blipFill>
        <p:spPr>
          <a:xfrm>
            <a:off x="5491701" y="-6559"/>
            <a:ext cx="5866860" cy="3593083"/>
          </a:xfrm>
          <a:prstGeom prst="rect">
            <a:avLst/>
          </a:prstGeom>
        </p:spPr>
      </p:pic>
      <p:pic>
        <p:nvPicPr>
          <p:cNvPr id="4" name="Content Placeholder 3" descr="A graph of different colors&#10;&#10;Description automatically generated">
            <a:extLst>
              <a:ext uri="{FF2B5EF4-FFF2-40B4-BE49-F238E27FC236}">
                <a16:creationId xmlns:a16="http://schemas.microsoft.com/office/drawing/2014/main" id="{9EE3D73B-D0F1-FE0C-CE57-DE544A7126F2}"/>
              </a:ext>
            </a:extLst>
          </p:cNvPr>
          <p:cNvPicPr>
            <a:picLocks noChangeAspect="1"/>
          </p:cNvPicPr>
          <p:nvPr/>
        </p:nvPicPr>
        <p:blipFill>
          <a:blip r:embed="rId4"/>
          <a:stretch>
            <a:fillRect/>
          </a:stretch>
        </p:blipFill>
        <p:spPr>
          <a:xfrm>
            <a:off x="5493221" y="3570934"/>
            <a:ext cx="5866568" cy="3281499"/>
          </a:xfrm>
          <a:prstGeom prst="rect">
            <a:avLst/>
          </a:prstGeom>
        </p:spPr>
      </p:pic>
      <p:sp>
        <p:nvSpPr>
          <p:cNvPr id="6" name="TextBox 4">
            <a:extLst>
              <a:ext uri="{FF2B5EF4-FFF2-40B4-BE49-F238E27FC236}">
                <a16:creationId xmlns:a16="http://schemas.microsoft.com/office/drawing/2014/main" id="{8950A4AC-0669-160F-2714-8840F5B4B0AB}"/>
              </a:ext>
            </a:extLst>
          </p:cNvPr>
          <p:cNvSpPr txBox="1"/>
          <p:nvPr/>
        </p:nvSpPr>
        <p:spPr>
          <a:xfrm>
            <a:off x="118461" y="1933754"/>
            <a:ext cx="3128688" cy="3857445"/>
          </a:xfrm>
          <a:prstGeom prst="rect">
            <a:avLst/>
          </a:prstGeom>
        </p:spPr>
        <p:txBody>
          <a:bodyPr rot="0" spcFirstLastPara="0" vert="horz"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lnSpc>
                <a:spcPct val="90000"/>
              </a:lnSpc>
              <a:spcBef>
                <a:spcPct val="20000"/>
              </a:spcBef>
              <a:spcAft>
                <a:spcPts val="600"/>
              </a:spcAft>
              <a:buClr>
                <a:schemeClr val="accent1">
                  <a:lumMod val="75000"/>
                </a:schemeClr>
              </a:buClr>
              <a:buSzPct val="145000"/>
            </a:pPr>
            <a:r>
              <a:rPr lang="en-US" dirty="0">
                <a:solidFill>
                  <a:schemeClr val="tx1">
                    <a:lumMod val="65000"/>
                    <a:lumOff val="35000"/>
                  </a:schemeClr>
                </a:solidFill>
                <a:latin typeface="Times New Roman"/>
                <a:cs typeface="Times New Roman"/>
              </a:rPr>
              <a:t> </a:t>
            </a:r>
            <a:r>
              <a:rPr lang="en-US" dirty="0">
                <a:latin typeface="Times New Roman"/>
                <a:cs typeface="Times New Roman"/>
              </a:rPr>
              <a:t> If we examine the differences between the two bar charts for the years 2000/2021, we see that Japan is in the top place in both years. </a:t>
            </a:r>
            <a:endParaRPr lang="en-US"/>
          </a:p>
          <a:p>
            <a:pPr defTabSz="457200">
              <a:lnSpc>
                <a:spcPct val="90000"/>
              </a:lnSpc>
              <a:spcBef>
                <a:spcPct val="20000"/>
              </a:spcBef>
              <a:spcAft>
                <a:spcPts val="600"/>
              </a:spcAft>
            </a:pPr>
            <a:r>
              <a:rPr lang="en-US" dirty="0">
                <a:latin typeface="Times New Roman"/>
                <a:cs typeface="Times New Roman"/>
              </a:rPr>
              <a:t>France drops from second to fourth place, followed by Spain, which drops significantly to seventh place, Switzerland from fourth to sixth place and Australia moves up one place from sixth to fifth place. </a:t>
            </a:r>
          </a:p>
          <a:p>
            <a:pPr defTabSz="457200">
              <a:lnSpc>
                <a:spcPct val="90000"/>
              </a:lnSpc>
              <a:spcBef>
                <a:spcPct val="20000"/>
              </a:spcBef>
              <a:spcAft>
                <a:spcPts val="600"/>
              </a:spcAft>
            </a:pPr>
            <a:r>
              <a:rPr lang="en-US" dirty="0">
                <a:latin typeface="Times New Roman"/>
                <a:cs typeface="Times New Roman"/>
              </a:rPr>
              <a:t>Some other countries have lost their top 10 positions in 2021, while others have taken their place.</a:t>
            </a:r>
          </a:p>
        </p:txBody>
      </p:sp>
    </p:spTree>
    <p:extLst>
      <p:ext uri="{BB962C8B-B14F-4D97-AF65-F5344CB8AC3E}">
        <p14:creationId xmlns:p14="http://schemas.microsoft.com/office/powerpoint/2010/main" val="15867173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4DFAAE7-061D-4086-99EC-872CB3050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B0C549-AED5-8A45-8599-FBC72E4B5F0A}"/>
              </a:ext>
            </a:extLst>
          </p:cNvPr>
          <p:cNvSpPr>
            <a:spLocks noGrp="1"/>
          </p:cNvSpPr>
          <p:nvPr>
            <p:ph type="title"/>
          </p:nvPr>
        </p:nvSpPr>
        <p:spPr>
          <a:xfrm>
            <a:off x="4860867" y="441385"/>
            <a:ext cx="7073478" cy="889958"/>
          </a:xfrm>
        </p:spPr>
        <p:txBody>
          <a:bodyPr>
            <a:normAutofit fontScale="90000"/>
          </a:bodyPr>
          <a:lstStyle/>
          <a:p>
            <a:r>
              <a:rPr lang="en-US" sz="2400" b="1" i="1" dirty="0">
                <a:latin typeface="Times New Roman"/>
                <a:cs typeface="Times New Roman"/>
              </a:rPr>
              <a:t>7. World Bank Income Group</a:t>
            </a:r>
            <a:r>
              <a:rPr lang="en-US" sz="2400" b="1" dirty="0">
                <a:latin typeface="Times New Roman"/>
                <a:cs typeface="Times New Roman"/>
              </a:rPr>
              <a:t> </a:t>
            </a:r>
            <a:r>
              <a:rPr lang="en-US" sz="2400" dirty="0">
                <a:latin typeface="Times New Roman"/>
                <a:cs typeface="Times New Roman"/>
              </a:rPr>
              <a:t>regions analysis</a:t>
            </a:r>
            <a:br>
              <a:rPr lang="en-US" sz="2400" dirty="0">
                <a:latin typeface="Times New Roman"/>
                <a:cs typeface="Times New Roman"/>
              </a:rPr>
            </a:br>
            <a:r>
              <a:rPr lang="en-US" sz="2400" dirty="0">
                <a:solidFill>
                  <a:schemeClr val="tx1">
                    <a:lumMod val="65000"/>
                    <a:lumOff val="35000"/>
                  </a:schemeClr>
                </a:solidFill>
                <a:latin typeface="Times New Roman"/>
                <a:cs typeface="Times New Roman"/>
              </a:rPr>
              <a:t>7.1 Life expectancy at birth</a:t>
            </a:r>
            <a:br>
              <a:rPr lang="en-US" sz="1800" dirty="0">
                <a:latin typeface="Times New Roman"/>
                <a:cs typeface="Times New Roman"/>
              </a:rPr>
            </a:br>
            <a:r>
              <a:rPr lang="en-US" sz="2400" dirty="0">
                <a:latin typeface="Times New Roman"/>
                <a:cs typeface="Times New Roman"/>
              </a:rPr>
              <a:t> </a:t>
            </a:r>
            <a:endParaRPr lang="en-US" sz="2400" dirty="0"/>
          </a:p>
        </p:txBody>
      </p:sp>
      <p:sp>
        <p:nvSpPr>
          <p:cNvPr id="10" name="Rectangle 9">
            <a:extLst>
              <a:ext uri="{FF2B5EF4-FFF2-40B4-BE49-F238E27FC236}">
                <a16:creationId xmlns:a16="http://schemas.microsoft.com/office/drawing/2014/main" id="{E7570099-A243-48DD-9EAE-36F4AC095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06393" cy="6858000"/>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2" name="Freeform 6">
            <a:extLst>
              <a:ext uri="{FF2B5EF4-FFF2-40B4-BE49-F238E27FC236}">
                <a16:creationId xmlns:a16="http://schemas.microsoft.com/office/drawing/2014/main" id="{45E4A74B-6514-424A-ADFA-C232FA6B90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95233" y="1"/>
            <a:ext cx="858884" cy="2780957"/>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lumMod val="75000"/>
            </a:schemeClr>
          </a:solidFill>
          <a:ln>
            <a:noFill/>
          </a:ln>
        </p:spPr>
      </p:sp>
      <p:sp>
        <p:nvSpPr>
          <p:cNvPr id="14" name="Freeform 7">
            <a:extLst>
              <a:ext uri="{FF2B5EF4-FFF2-40B4-BE49-F238E27FC236}">
                <a16:creationId xmlns:a16="http://schemas.microsoft.com/office/drawing/2014/main" id="{F61C5C86-C785-4B92-9F2D-133B8B8C24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41424" y="1"/>
            <a:ext cx="835810" cy="2671495"/>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sp>
      <p:sp>
        <p:nvSpPr>
          <p:cNvPr id="16" name="Freeform 12">
            <a:extLst>
              <a:ext uri="{FF2B5EF4-FFF2-40B4-BE49-F238E27FC236}">
                <a16:creationId xmlns:a16="http://schemas.microsoft.com/office/drawing/2014/main" id="{954D0BF9-002C-4D3A-A222-C166094A5D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41424" y="2585830"/>
            <a:ext cx="2175413" cy="4272171"/>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sp>
      <p:sp>
        <p:nvSpPr>
          <p:cNvPr id="18" name="Freeform 13">
            <a:extLst>
              <a:ext uri="{FF2B5EF4-FFF2-40B4-BE49-F238E27FC236}">
                <a16:creationId xmlns:a16="http://schemas.microsoft.com/office/drawing/2014/main" id="{6080EB6E-D69F-43B1-91EC-75C303342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99078" y="2695292"/>
            <a:ext cx="2690743" cy="4162709"/>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0" name="Freeform: Shape 19">
            <a:extLst>
              <a:ext uri="{FF2B5EF4-FFF2-40B4-BE49-F238E27FC236}">
                <a16:creationId xmlns:a16="http://schemas.microsoft.com/office/drawing/2014/main" id="{21BA816A-EE68-4A96-BA05-73303B2F4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95233" y="2690532"/>
            <a:ext cx="2904320" cy="4167469"/>
          </a:xfrm>
          <a:custGeom>
            <a:avLst/>
            <a:gdLst>
              <a:gd name="connsiteX0" fmla="*/ 0 w 2904320"/>
              <a:gd name="connsiteY0" fmla="*/ 0 h 4167469"/>
              <a:gd name="connsiteX1" fmla="*/ 288431 w 2904320"/>
              <a:gd name="connsiteY1" fmla="*/ 90425 h 4167469"/>
              <a:gd name="connsiteX2" fmla="*/ 2904320 w 2904320"/>
              <a:gd name="connsiteY2" fmla="*/ 3220465 h 4167469"/>
              <a:gd name="connsiteX3" fmla="*/ 2904320 w 2904320"/>
              <a:gd name="connsiteY3" fmla="*/ 4167469 h 4167469"/>
              <a:gd name="connsiteX4" fmla="*/ 2694589 w 2904320"/>
              <a:gd name="connsiteY4" fmla="*/ 4167469 h 4167469"/>
              <a:gd name="connsiteX5" fmla="*/ 3846 w 2904320"/>
              <a:gd name="connsiteY5" fmla="*/ 4759 h 4167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04320" h="4167469">
                <a:moveTo>
                  <a:pt x="0" y="0"/>
                </a:moveTo>
                <a:lnTo>
                  <a:pt x="288431" y="90425"/>
                </a:lnTo>
                <a:lnTo>
                  <a:pt x="2904320" y="3220465"/>
                </a:lnTo>
                <a:lnTo>
                  <a:pt x="2904320" y="4167469"/>
                </a:lnTo>
                <a:lnTo>
                  <a:pt x="2694589" y="4167469"/>
                </a:lnTo>
                <a:lnTo>
                  <a:pt x="3846" y="4759"/>
                </a:lnTo>
                <a:close/>
              </a:path>
            </a:pathLst>
          </a:custGeom>
          <a:solidFill>
            <a:schemeClr val="accent1">
              <a:lumMod val="75000"/>
            </a:schemeClr>
          </a:solidFill>
          <a:ln>
            <a:noFill/>
          </a:ln>
        </p:spPr>
      </p:sp>
      <p:sp>
        <p:nvSpPr>
          <p:cNvPr id="22" name="Freeform 15">
            <a:extLst>
              <a:ext uri="{FF2B5EF4-FFF2-40B4-BE49-F238E27FC236}">
                <a16:creationId xmlns:a16="http://schemas.microsoft.com/office/drawing/2014/main" id="{22A94CDB-5D63-4C75-9CB6-6C18CDF37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41424" y="2581071"/>
            <a:ext cx="2894568" cy="427693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sp>
      <p:pic>
        <p:nvPicPr>
          <p:cNvPr id="4" name="Content Placeholder 3" descr="A graph of birth rate&#10;&#10;Description automatically generated">
            <a:extLst>
              <a:ext uri="{FF2B5EF4-FFF2-40B4-BE49-F238E27FC236}">
                <a16:creationId xmlns:a16="http://schemas.microsoft.com/office/drawing/2014/main" id="{282B351B-BB61-02E3-341A-7126FBD2C1A5}"/>
              </a:ext>
            </a:extLst>
          </p:cNvPr>
          <p:cNvPicPr>
            <a:picLocks noGrp="1" noChangeAspect="1"/>
          </p:cNvPicPr>
          <p:nvPr>
            <p:ph idx="1"/>
          </p:nvPr>
        </p:nvPicPr>
        <p:blipFill>
          <a:blip r:embed="rId3"/>
          <a:stretch>
            <a:fillRect/>
          </a:stretch>
        </p:blipFill>
        <p:spPr>
          <a:xfrm>
            <a:off x="928207" y="807739"/>
            <a:ext cx="4960907" cy="5246834"/>
          </a:xfrm>
        </p:spPr>
      </p:pic>
      <p:sp>
        <p:nvSpPr>
          <p:cNvPr id="3" name="TextBox 2">
            <a:extLst>
              <a:ext uri="{FF2B5EF4-FFF2-40B4-BE49-F238E27FC236}">
                <a16:creationId xmlns:a16="http://schemas.microsoft.com/office/drawing/2014/main" id="{041D8E54-92B9-CBB9-F5E6-AC28697C5D19}"/>
              </a:ext>
            </a:extLst>
          </p:cNvPr>
          <p:cNvSpPr txBox="1"/>
          <p:nvPr/>
        </p:nvSpPr>
        <p:spPr>
          <a:xfrm>
            <a:off x="6099834" y="2158200"/>
            <a:ext cx="5831775"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v"/>
            </a:pPr>
            <a:r>
              <a:rPr lang="en-US" dirty="0"/>
              <a:t>Low-income countries:  </a:t>
            </a:r>
            <a:endParaRPr lang="en-US"/>
          </a:p>
          <a:p>
            <a:r>
              <a:rPr lang="en-US" dirty="0"/>
              <a:t>67 years (females), 65 years (both sexes) , 63 years (males).</a:t>
            </a:r>
          </a:p>
          <a:p>
            <a:endParaRPr lang="en-US" dirty="0">
              <a:ea typeface="+mn-lt"/>
              <a:cs typeface="+mn-lt"/>
            </a:endParaRPr>
          </a:p>
          <a:p>
            <a:pPr marL="285750" indent="-285750">
              <a:buFont typeface="Wingdings"/>
              <a:buChar char="v"/>
            </a:pPr>
            <a:r>
              <a:rPr lang="en-US" dirty="0">
                <a:ea typeface="+mn-lt"/>
                <a:cs typeface="+mn-lt"/>
              </a:rPr>
              <a:t>Lower-middle-income countries:  </a:t>
            </a:r>
          </a:p>
          <a:p>
            <a:r>
              <a:rPr lang="en-US" dirty="0">
                <a:ea typeface="+mn-lt"/>
                <a:cs typeface="+mn-lt"/>
              </a:rPr>
              <a:t>71 years (females), 69 years (both sexes), 68 years (males).</a:t>
            </a:r>
            <a:endParaRPr lang="en-US"/>
          </a:p>
          <a:p>
            <a:endParaRPr lang="en-US" dirty="0">
              <a:ea typeface="+mn-lt"/>
              <a:cs typeface="+mn-lt"/>
            </a:endParaRPr>
          </a:p>
          <a:p>
            <a:pPr marL="285750" indent="-285750">
              <a:buFont typeface="Wingdings"/>
              <a:buChar char="v"/>
            </a:pPr>
            <a:r>
              <a:rPr lang="en-US" dirty="0">
                <a:ea typeface="+mn-lt"/>
                <a:cs typeface="+mn-lt"/>
              </a:rPr>
              <a:t>Upper-middle-income countries: </a:t>
            </a:r>
            <a:endParaRPr lang="en-US">
              <a:ea typeface="+mn-lt"/>
              <a:cs typeface="+mn-lt"/>
            </a:endParaRPr>
          </a:p>
          <a:p>
            <a:r>
              <a:rPr lang="en-US" dirty="0">
                <a:ea typeface="+mn-lt"/>
                <a:cs typeface="+mn-lt"/>
              </a:rPr>
              <a:t>79 years (females), 76 years (both sexes), 73 years (males).</a:t>
            </a:r>
          </a:p>
          <a:p>
            <a:endParaRPr lang="en-US" dirty="0">
              <a:ea typeface="+mn-lt"/>
              <a:cs typeface="+mn-lt"/>
            </a:endParaRPr>
          </a:p>
          <a:p>
            <a:pPr marL="285750" indent="-285750">
              <a:buFont typeface="Wingdings"/>
              <a:buChar char="v"/>
            </a:pPr>
            <a:r>
              <a:rPr lang="en-US" dirty="0">
                <a:ea typeface="+mn-lt"/>
                <a:cs typeface="+mn-lt"/>
              </a:rPr>
              <a:t>High-income countries:</a:t>
            </a:r>
            <a:endParaRPr lang="en-US"/>
          </a:p>
          <a:p>
            <a:r>
              <a:rPr lang="en-US" dirty="0">
                <a:ea typeface="+mn-lt"/>
                <a:cs typeface="+mn-lt"/>
              </a:rPr>
              <a:t>83 years (females), 81 years (both sexes), 78 years (males).</a:t>
            </a:r>
            <a:endParaRPr lang="en-US" dirty="0"/>
          </a:p>
          <a:p>
            <a:endParaRPr lang="en-US" dirty="0"/>
          </a:p>
          <a:p>
            <a:endParaRPr lang="en-US" dirty="0"/>
          </a:p>
        </p:txBody>
      </p:sp>
    </p:spTree>
    <p:extLst>
      <p:ext uri="{BB962C8B-B14F-4D97-AF65-F5344CB8AC3E}">
        <p14:creationId xmlns:p14="http://schemas.microsoft.com/office/powerpoint/2010/main" val="34024975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9CAC3B1-4879-424D-8F15-2062771961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B8492CB-DFBA-4A82-9778-F21493DA36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0"/>
            <a:ext cx="5014912" cy="6862763"/>
            <a:chOff x="2928938" y="-4763"/>
            <a:chExt cx="5014912" cy="6862763"/>
          </a:xfrm>
        </p:grpSpPr>
        <p:sp>
          <p:nvSpPr>
            <p:cNvPr id="11" name="Freeform 6">
              <a:extLst>
                <a:ext uri="{FF2B5EF4-FFF2-40B4-BE49-F238E27FC236}">
                  <a16:creationId xmlns:a16="http://schemas.microsoft.com/office/drawing/2014/main" id="{E34CC1C8-EBDD-4AEA-83E6-B27575B62E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12" name="Freeform 7">
              <a:extLst>
                <a:ext uri="{FF2B5EF4-FFF2-40B4-BE49-F238E27FC236}">
                  <a16:creationId xmlns:a16="http://schemas.microsoft.com/office/drawing/2014/main" id="{D6B38644-B85D-4211-9526-5B4C2A662B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sp>
        <p:sp>
          <p:nvSpPr>
            <p:cNvPr id="13" name="Freeform 12">
              <a:extLst>
                <a:ext uri="{FF2B5EF4-FFF2-40B4-BE49-F238E27FC236}">
                  <a16:creationId xmlns:a16="http://schemas.microsoft.com/office/drawing/2014/main" id="{8A8B2820-6B8F-4C19-BFC5-D28EE44E54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sp>
        <p:sp>
          <p:nvSpPr>
            <p:cNvPr id="14" name="Freeform 13">
              <a:extLst>
                <a:ext uri="{FF2B5EF4-FFF2-40B4-BE49-F238E27FC236}">
                  <a16:creationId xmlns:a16="http://schemas.microsoft.com/office/drawing/2014/main" id="{773528ED-4D37-4A77-A8CA-86B6221C5E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15" name="Freeform 14">
              <a:extLst>
                <a:ext uri="{FF2B5EF4-FFF2-40B4-BE49-F238E27FC236}">
                  <a16:creationId xmlns:a16="http://schemas.microsoft.com/office/drawing/2014/main" id="{8A58A902-E944-4399-9A93-A91A6A82B1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16" name="Freeform 15">
              <a:extLst>
                <a:ext uri="{FF2B5EF4-FFF2-40B4-BE49-F238E27FC236}">
                  <a16:creationId xmlns:a16="http://schemas.microsoft.com/office/drawing/2014/main" id="{4EDB1155-2E8E-4FB8-AD42-101FE43832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sp>
      </p:grpSp>
      <p:pic>
        <p:nvPicPr>
          <p:cNvPr id="5" name="Content Placeholder 4" descr="A graph of different colored circles&#10;&#10;Description automatically generated">
            <a:extLst>
              <a:ext uri="{FF2B5EF4-FFF2-40B4-BE49-F238E27FC236}">
                <a16:creationId xmlns:a16="http://schemas.microsoft.com/office/drawing/2014/main" id="{03A43B9B-A998-477A-0680-5190B2130CE0}"/>
              </a:ext>
            </a:extLst>
          </p:cNvPr>
          <p:cNvPicPr>
            <a:picLocks noGrp="1" noChangeAspect="1"/>
          </p:cNvPicPr>
          <p:nvPr>
            <p:ph idx="1"/>
          </p:nvPr>
        </p:nvPicPr>
        <p:blipFill>
          <a:blip r:embed="rId2"/>
          <a:stretch>
            <a:fillRect/>
          </a:stretch>
        </p:blipFill>
        <p:spPr>
          <a:xfrm>
            <a:off x="7068278" y="841075"/>
            <a:ext cx="4934406" cy="5235229"/>
          </a:xfrm>
        </p:spPr>
      </p:pic>
      <p:sp>
        <p:nvSpPr>
          <p:cNvPr id="6" name="TextBox 5">
            <a:extLst>
              <a:ext uri="{FF2B5EF4-FFF2-40B4-BE49-F238E27FC236}">
                <a16:creationId xmlns:a16="http://schemas.microsoft.com/office/drawing/2014/main" id="{329330E1-8276-EA98-CDE7-2ED336938612}"/>
              </a:ext>
            </a:extLst>
          </p:cNvPr>
          <p:cNvSpPr txBox="1"/>
          <p:nvPr/>
        </p:nvSpPr>
        <p:spPr>
          <a:xfrm>
            <a:off x="382439" y="583721"/>
            <a:ext cx="6581953"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200" b="1" i="1" dirty="0">
                <a:latin typeface="Times New Roman"/>
              </a:rPr>
              <a:t>7. World Bank Income Group</a:t>
            </a:r>
            <a:r>
              <a:rPr lang="en-US" sz="2200" b="1" dirty="0">
                <a:latin typeface="Times New Roman"/>
              </a:rPr>
              <a:t> </a:t>
            </a:r>
            <a:r>
              <a:rPr lang="en-US" sz="2200" dirty="0">
                <a:latin typeface="Times New Roman"/>
              </a:rPr>
              <a:t>regions analysis</a:t>
            </a:r>
            <a:r>
              <a:rPr lang="en-US" sz="2200" dirty="0">
                <a:latin typeface="Times New Roman"/>
                <a:cs typeface="Times New Roman"/>
              </a:rPr>
              <a:t>​</a:t>
            </a:r>
            <a:br>
              <a:rPr lang="en-US" sz="2200" dirty="0">
                <a:latin typeface="Times New Roman"/>
                <a:cs typeface="Times New Roman"/>
              </a:rPr>
            </a:br>
            <a:r>
              <a:rPr lang="en-US" sz="2200" dirty="0">
                <a:solidFill>
                  <a:schemeClr val="accent1"/>
                </a:solidFill>
                <a:latin typeface="Times New Roman"/>
              </a:rPr>
              <a:t>7.2 Healthy life expectancy at birth</a:t>
            </a:r>
            <a:endParaRPr lang="en-US" dirty="0">
              <a:solidFill>
                <a:schemeClr val="accent1"/>
              </a:solidFill>
            </a:endParaRPr>
          </a:p>
        </p:txBody>
      </p:sp>
      <p:sp>
        <p:nvSpPr>
          <p:cNvPr id="17" name="TextBox 16">
            <a:extLst>
              <a:ext uri="{FF2B5EF4-FFF2-40B4-BE49-F238E27FC236}">
                <a16:creationId xmlns:a16="http://schemas.microsoft.com/office/drawing/2014/main" id="{3A3AC467-FC3A-21C9-4664-A678F6DEA4A6}"/>
              </a:ext>
            </a:extLst>
          </p:cNvPr>
          <p:cNvSpPr txBox="1"/>
          <p:nvPr/>
        </p:nvSpPr>
        <p:spPr>
          <a:xfrm>
            <a:off x="382439" y="2064588"/>
            <a:ext cx="6323160"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Sans-Serif"/>
              <a:buChar char="v"/>
            </a:pPr>
            <a:r>
              <a:rPr lang="en-US" sz="2000" dirty="0">
                <a:solidFill>
                  <a:schemeClr val="accent1"/>
                </a:solidFill>
                <a:cs typeface="Arial"/>
              </a:rPr>
              <a:t>Low-income countries:  ​​</a:t>
            </a:r>
          </a:p>
          <a:p>
            <a:r>
              <a:rPr lang="en-US" sz="2000" dirty="0">
                <a:solidFill>
                  <a:schemeClr val="accent1"/>
                </a:solidFill>
                <a:cs typeface="Arial"/>
              </a:rPr>
              <a:t>67 years (females), 65 years (both sexes) , 63 years (males).​​</a:t>
            </a:r>
          </a:p>
          <a:p>
            <a:endParaRPr lang="en-US" sz="2000" dirty="0">
              <a:solidFill>
                <a:schemeClr val="accent1"/>
              </a:solidFill>
              <a:cs typeface="Arial"/>
            </a:endParaRPr>
          </a:p>
          <a:p>
            <a:pPr marL="285750" indent="-285750">
              <a:buFont typeface="Wingdings,Sans-Serif"/>
              <a:buChar char="v"/>
            </a:pPr>
            <a:r>
              <a:rPr lang="en-US" sz="2000" dirty="0">
                <a:solidFill>
                  <a:schemeClr val="accent1"/>
                </a:solidFill>
                <a:cs typeface="Arial"/>
              </a:rPr>
              <a:t>Lower-middle-income countries:  ​​</a:t>
            </a:r>
          </a:p>
          <a:p>
            <a:r>
              <a:rPr lang="en-US" sz="2000" dirty="0">
                <a:solidFill>
                  <a:schemeClr val="accent1"/>
                </a:solidFill>
                <a:cs typeface="Arial"/>
              </a:rPr>
              <a:t>71 years (females), 69 years (both sexes), 68 years (males).​​</a:t>
            </a:r>
          </a:p>
          <a:p>
            <a:endParaRPr lang="en-US" sz="2000" dirty="0">
              <a:solidFill>
                <a:schemeClr val="accent1"/>
              </a:solidFill>
              <a:cs typeface="Arial"/>
            </a:endParaRPr>
          </a:p>
          <a:p>
            <a:pPr marL="285750" indent="-285750">
              <a:buFont typeface="Wingdings,Sans-Serif"/>
              <a:buChar char="v"/>
            </a:pPr>
            <a:r>
              <a:rPr lang="en-US" sz="2000" dirty="0">
                <a:solidFill>
                  <a:schemeClr val="accent1"/>
                </a:solidFill>
                <a:cs typeface="Arial"/>
              </a:rPr>
              <a:t>Upper-middle-income countries: ​​</a:t>
            </a:r>
          </a:p>
          <a:p>
            <a:r>
              <a:rPr lang="en-US" sz="2000" dirty="0">
                <a:solidFill>
                  <a:schemeClr val="accent1"/>
                </a:solidFill>
                <a:cs typeface="Arial"/>
              </a:rPr>
              <a:t>79 years (females), 76 years (both sexes), 73 years (males).​​</a:t>
            </a:r>
          </a:p>
          <a:p>
            <a:endParaRPr lang="en-US" sz="2000" dirty="0">
              <a:solidFill>
                <a:schemeClr val="accent1"/>
              </a:solidFill>
              <a:cs typeface="Arial"/>
            </a:endParaRPr>
          </a:p>
          <a:p>
            <a:pPr marL="285750" indent="-285750">
              <a:buFont typeface="Wingdings,Sans-Serif"/>
              <a:buChar char="v"/>
            </a:pPr>
            <a:r>
              <a:rPr lang="en-US" sz="2000" dirty="0">
                <a:solidFill>
                  <a:schemeClr val="accent1"/>
                </a:solidFill>
                <a:cs typeface="Arial"/>
              </a:rPr>
              <a:t>High-income countries:​​</a:t>
            </a:r>
          </a:p>
          <a:p>
            <a:r>
              <a:rPr lang="en-US" sz="2000" dirty="0">
                <a:solidFill>
                  <a:schemeClr val="accent1"/>
                </a:solidFill>
                <a:cs typeface="Arial"/>
              </a:rPr>
              <a:t>83 years (females), 81 years (both sexes), 78 years (males).</a:t>
            </a:r>
          </a:p>
        </p:txBody>
      </p:sp>
    </p:spTree>
    <p:extLst>
      <p:ext uri="{BB962C8B-B14F-4D97-AF65-F5344CB8AC3E}">
        <p14:creationId xmlns:p14="http://schemas.microsoft.com/office/powerpoint/2010/main" val="2108109341"/>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9CAC3B1-4879-424D-8F15-2062771961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C26FB8-E823-3E1D-ECFC-EC1B0F240881}"/>
              </a:ext>
            </a:extLst>
          </p:cNvPr>
          <p:cNvSpPr>
            <a:spLocks noGrp="1"/>
          </p:cNvSpPr>
          <p:nvPr>
            <p:ph type="title"/>
          </p:nvPr>
        </p:nvSpPr>
        <p:spPr>
          <a:xfrm>
            <a:off x="2007937" y="176320"/>
            <a:ext cx="9831001" cy="1033730"/>
          </a:xfrm>
        </p:spPr>
        <p:txBody>
          <a:bodyPr>
            <a:normAutofit/>
          </a:bodyPr>
          <a:lstStyle/>
          <a:p>
            <a:pPr>
              <a:lnSpc>
                <a:spcPct val="120000"/>
              </a:lnSpc>
              <a:spcBef>
                <a:spcPct val="20000"/>
              </a:spcBef>
              <a:spcAft>
                <a:spcPts val="600"/>
              </a:spcAft>
            </a:pPr>
            <a:r>
              <a:rPr lang="en-US" sz="2000" b="1" i="1" dirty="0">
                <a:latin typeface="Times New Roman"/>
                <a:cs typeface="Times New Roman"/>
              </a:rPr>
              <a:t>8. National liberation movement and organized, unincorporated territories</a:t>
            </a:r>
            <a:endParaRPr lang="en-US" sz="2000" i="1" dirty="0">
              <a:latin typeface="Times New Roman"/>
              <a:cs typeface="Times New Roman"/>
            </a:endParaRPr>
          </a:p>
          <a:p>
            <a:r>
              <a:rPr lang="en-US" sz="2000" dirty="0">
                <a:solidFill>
                  <a:schemeClr val="tx1">
                    <a:lumMod val="65000"/>
                    <a:lumOff val="35000"/>
                  </a:schemeClr>
                </a:solidFill>
                <a:latin typeface="Times New Roman"/>
                <a:cs typeface="Times New Roman"/>
              </a:rPr>
              <a:t>Life expectancy at birth</a:t>
            </a:r>
            <a:r>
              <a:rPr lang="en-US" sz="2000" dirty="0">
                <a:latin typeface="Times New Roman"/>
                <a:cs typeface="Times New Roman"/>
              </a:rPr>
              <a:t> &amp; </a:t>
            </a:r>
            <a:r>
              <a:rPr lang="en-US" sz="2000" dirty="0">
                <a:solidFill>
                  <a:schemeClr val="accent1"/>
                </a:solidFill>
                <a:latin typeface="Times New Roman"/>
                <a:cs typeface="Times New Roman"/>
              </a:rPr>
              <a:t>Healthy life expectancy at birth</a:t>
            </a:r>
          </a:p>
        </p:txBody>
      </p:sp>
      <p:sp>
        <p:nvSpPr>
          <p:cNvPr id="10" name="Freeform 6">
            <a:extLst>
              <a:ext uri="{FF2B5EF4-FFF2-40B4-BE49-F238E27FC236}">
                <a16:creationId xmlns:a16="http://schemas.microsoft.com/office/drawing/2014/main" id="{E34CC1C8-EBDD-4AEA-83E6-B27575B62E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1649700" y="0"/>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12" name="Freeform 7">
            <a:extLst>
              <a:ext uri="{FF2B5EF4-FFF2-40B4-BE49-F238E27FC236}">
                <a16:creationId xmlns:a16="http://schemas.microsoft.com/office/drawing/2014/main" id="{D6B38644-B85D-4211-9526-5B4C2A662B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2116425" y="0"/>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sp>
      <p:sp>
        <p:nvSpPr>
          <p:cNvPr id="14" name="Freeform 12">
            <a:extLst>
              <a:ext uri="{FF2B5EF4-FFF2-40B4-BE49-F238E27FC236}">
                <a16:creationId xmlns:a16="http://schemas.microsoft.com/office/drawing/2014/main" id="{8A8B2820-6B8F-4C19-BFC5-D28EE44E54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457487" y="2587625"/>
            <a:ext cx="2693987" cy="4270375"/>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sp>
      <p:sp>
        <p:nvSpPr>
          <p:cNvPr id="16" name="Freeform: Shape 15">
            <a:extLst>
              <a:ext uri="{FF2B5EF4-FFF2-40B4-BE49-F238E27FC236}">
                <a16:creationId xmlns:a16="http://schemas.microsoft.com/office/drawing/2014/main" id="{DCA45AB7-441E-40A8-A98B-557D68F48A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1" y="2692400"/>
            <a:ext cx="2713324" cy="3390788"/>
          </a:xfrm>
          <a:custGeom>
            <a:avLst/>
            <a:gdLst>
              <a:gd name="connsiteX0" fmla="*/ 0 w 2713324"/>
              <a:gd name="connsiteY0" fmla="*/ 0 h 3390788"/>
              <a:gd name="connsiteX1" fmla="*/ 4763 w 2713324"/>
              <a:gd name="connsiteY1" fmla="*/ 4763 h 3390788"/>
              <a:gd name="connsiteX2" fmla="*/ 2713324 w 2713324"/>
              <a:gd name="connsiteY2" fmla="*/ 3390788 h 3390788"/>
              <a:gd name="connsiteX3" fmla="*/ 2713324 w 2713324"/>
              <a:gd name="connsiteY3" fmla="*/ 2368619 h 3390788"/>
              <a:gd name="connsiteX4" fmla="*/ 357188 w 2713324"/>
              <a:gd name="connsiteY4" fmla="*/ 90488 h 3390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13324" h="3390788">
                <a:moveTo>
                  <a:pt x="0" y="0"/>
                </a:moveTo>
                <a:lnTo>
                  <a:pt x="4763" y="4763"/>
                </a:lnTo>
                <a:lnTo>
                  <a:pt x="2713324" y="3390788"/>
                </a:lnTo>
                <a:lnTo>
                  <a:pt x="2713324" y="2368619"/>
                </a:lnTo>
                <a:lnTo>
                  <a:pt x="357188" y="90488"/>
                </a:lnTo>
                <a:close/>
              </a:path>
            </a:pathLst>
          </a:custGeom>
          <a:solidFill>
            <a:schemeClr val="accent1">
              <a:lumMod val="75000"/>
            </a:schemeClr>
          </a:solidFill>
          <a:ln>
            <a:noFill/>
          </a:ln>
        </p:spPr>
      </p:sp>
      <p:sp>
        <p:nvSpPr>
          <p:cNvPr id="18" name="Freeform: Shape 17">
            <a:extLst>
              <a:ext uri="{FF2B5EF4-FFF2-40B4-BE49-F238E27FC236}">
                <a16:creationId xmlns:a16="http://schemas.microsoft.com/office/drawing/2014/main" id="{5F516030-4F00-4C48-AD93-91EFA17A1A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0" y="2582863"/>
            <a:ext cx="3151474" cy="4275137"/>
          </a:xfrm>
          <a:custGeom>
            <a:avLst/>
            <a:gdLst>
              <a:gd name="connsiteX0" fmla="*/ 0 w 3151474"/>
              <a:gd name="connsiteY0" fmla="*/ 0 h 4275137"/>
              <a:gd name="connsiteX1" fmla="*/ 0 w 3151474"/>
              <a:gd name="connsiteY1" fmla="*/ 4757 h 4275137"/>
              <a:gd name="connsiteX2" fmla="*/ 2693987 w 3151474"/>
              <a:gd name="connsiteY2" fmla="*/ 4275137 h 4275137"/>
              <a:gd name="connsiteX3" fmla="*/ 3151474 w 3151474"/>
              <a:gd name="connsiteY3" fmla="*/ 4275137 h 4275137"/>
              <a:gd name="connsiteX4" fmla="*/ 3151474 w 3151474"/>
              <a:gd name="connsiteY4" fmla="*/ 3714295 h 4275137"/>
              <a:gd name="connsiteX5" fmla="*/ 419100 w 3151474"/>
              <a:gd name="connsiteY5" fmla="*/ 176017 h 4275137"/>
              <a:gd name="connsiteX6" fmla="*/ 361950 w 3151474"/>
              <a:gd name="connsiteY6" fmla="*/ 95144 h 4275137"/>
              <a:gd name="connsiteX7" fmla="*/ 357188 w 3151474"/>
              <a:gd name="connsiteY7" fmla="*/ 90387 h 42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51474" h="4275137">
                <a:moveTo>
                  <a:pt x="0" y="0"/>
                </a:moveTo>
                <a:lnTo>
                  <a:pt x="0" y="4757"/>
                </a:lnTo>
                <a:lnTo>
                  <a:pt x="2693987" y="4275137"/>
                </a:lnTo>
                <a:lnTo>
                  <a:pt x="3151474" y="4275137"/>
                </a:lnTo>
                <a:lnTo>
                  <a:pt x="3151474" y="3714295"/>
                </a:lnTo>
                <a:lnTo>
                  <a:pt x="419100" y="176017"/>
                </a:lnTo>
                <a:lnTo>
                  <a:pt x="361950" y="95144"/>
                </a:lnTo>
                <a:lnTo>
                  <a:pt x="357188" y="90387"/>
                </a:lnTo>
                <a:close/>
              </a:path>
            </a:pathLst>
          </a:custGeom>
          <a:solidFill>
            <a:srgbClr val="404040"/>
          </a:solidFill>
          <a:ln>
            <a:noFill/>
          </a:ln>
        </p:spPr>
      </p:sp>
      <p:sp>
        <p:nvSpPr>
          <p:cNvPr id="20" name="Freeform: Shape 19">
            <a:extLst>
              <a:ext uri="{FF2B5EF4-FFF2-40B4-BE49-F238E27FC236}">
                <a16:creationId xmlns:a16="http://schemas.microsoft.com/office/drawing/2014/main" id="{5820085E-2582-4A95-98EE-45DFFD5C01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0" y="2697164"/>
            <a:ext cx="2706398" cy="3513899"/>
          </a:xfrm>
          <a:custGeom>
            <a:avLst/>
            <a:gdLst>
              <a:gd name="connsiteX0" fmla="*/ 0 w 2706398"/>
              <a:gd name="connsiteY0" fmla="*/ 0 h 3513899"/>
              <a:gd name="connsiteX1" fmla="*/ 2706398 w 2706398"/>
              <a:gd name="connsiteY1" fmla="*/ 3513899 h 3513899"/>
              <a:gd name="connsiteX2" fmla="*/ 2706398 w 2706398"/>
              <a:gd name="connsiteY2" fmla="*/ 3383321 h 3513899"/>
            </a:gdLst>
            <a:ahLst/>
            <a:cxnLst>
              <a:cxn ang="0">
                <a:pos x="connsiteX0" y="connsiteY0"/>
              </a:cxn>
              <a:cxn ang="0">
                <a:pos x="connsiteX1" y="connsiteY1"/>
              </a:cxn>
              <a:cxn ang="0">
                <a:pos x="connsiteX2" y="connsiteY2"/>
              </a:cxn>
            </a:cxnLst>
            <a:rect l="l" t="t" r="r" b="b"/>
            <a:pathLst>
              <a:path w="2706398" h="3513899">
                <a:moveTo>
                  <a:pt x="0" y="0"/>
                </a:moveTo>
                <a:lnTo>
                  <a:pt x="2706398" y="3513899"/>
                </a:lnTo>
                <a:lnTo>
                  <a:pt x="2706398" y="3383321"/>
                </a:lnTo>
                <a:close/>
              </a:path>
            </a:pathLst>
          </a:custGeom>
          <a:solidFill>
            <a:schemeClr val="accent1">
              <a:lumMod val="50000"/>
            </a:schemeClr>
          </a:solidFill>
          <a:ln>
            <a:noFill/>
          </a:ln>
        </p:spPr>
      </p:sp>
      <p:pic>
        <p:nvPicPr>
          <p:cNvPr id="4" name="Content Placeholder 3">
            <a:extLst>
              <a:ext uri="{FF2B5EF4-FFF2-40B4-BE49-F238E27FC236}">
                <a16:creationId xmlns:a16="http://schemas.microsoft.com/office/drawing/2014/main" id="{B9AEC8B6-4B0D-7C4A-C395-05D6719DE589}"/>
              </a:ext>
            </a:extLst>
          </p:cNvPr>
          <p:cNvPicPr>
            <a:picLocks noGrp="1" noChangeAspect="1"/>
          </p:cNvPicPr>
          <p:nvPr>
            <p:ph idx="1"/>
          </p:nvPr>
        </p:nvPicPr>
        <p:blipFill>
          <a:blip r:embed="rId3"/>
          <a:stretch>
            <a:fillRect/>
          </a:stretch>
        </p:blipFill>
        <p:spPr>
          <a:xfrm>
            <a:off x="1355514" y="1790058"/>
            <a:ext cx="5073340" cy="4423747"/>
          </a:xfrm>
        </p:spPr>
      </p:pic>
      <p:pic>
        <p:nvPicPr>
          <p:cNvPr id="5" name="Picture 4" descr="A graph of a number of people&#10;&#10;Description automatically generated">
            <a:extLst>
              <a:ext uri="{FF2B5EF4-FFF2-40B4-BE49-F238E27FC236}">
                <a16:creationId xmlns:a16="http://schemas.microsoft.com/office/drawing/2014/main" id="{228A7312-B654-2DD0-921D-AEC7563E72D3}"/>
              </a:ext>
            </a:extLst>
          </p:cNvPr>
          <p:cNvPicPr>
            <a:picLocks noChangeAspect="1"/>
          </p:cNvPicPr>
          <p:nvPr/>
        </p:nvPicPr>
        <p:blipFill>
          <a:blip r:embed="rId4"/>
          <a:stretch>
            <a:fillRect/>
          </a:stretch>
        </p:blipFill>
        <p:spPr>
          <a:xfrm>
            <a:off x="6759156" y="1711175"/>
            <a:ext cx="5071614" cy="4499572"/>
          </a:xfrm>
          <a:prstGeom prst="rect">
            <a:avLst/>
          </a:prstGeom>
        </p:spPr>
      </p:pic>
    </p:spTree>
    <p:extLst>
      <p:ext uri="{BB962C8B-B14F-4D97-AF65-F5344CB8AC3E}">
        <p14:creationId xmlns:p14="http://schemas.microsoft.com/office/powerpoint/2010/main" val="13926083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E9D059B6-ADD8-488A-B346-63289E90D1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6100" y="-4763"/>
            <a:ext cx="5014912" cy="6862763"/>
            <a:chOff x="2928938" y="-4763"/>
            <a:chExt cx="5014912" cy="6862763"/>
          </a:xfrm>
        </p:grpSpPr>
        <p:sp>
          <p:nvSpPr>
            <p:cNvPr id="9" name="Freeform 6">
              <a:extLst>
                <a:ext uri="{FF2B5EF4-FFF2-40B4-BE49-F238E27FC236}">
                  <a16:creationId xmlns:a16="http://schemas.microsoft.com/office/drawing/2014/main" id="{F69B42B4-BC82-4495-A6F9-A28167B56A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10" name="Freeform 7">
              <a:extLst>
                <a:ext uri="{FF2B5EF4-FFF2-40B4-BE49-F238E27FC236}">
                  <a16:creationId xmlns:a16="http://schemas.microsoft.com/office/drawing/2014/main" id="{83CC168C-2AD4-4FFB-9F25-420ED6514C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11" name="Freeform 9">
              <a:extLst>
                <a:ext uri="{FF2B5EF4-FFF2-40B4-BE49-F238E27FC236}">
                  <a16:creationId xmlns:a16="http://schemas.microsoft.com/office/drawing/2014/main" id="{6C9F369A-6158-4AE8-BA04-138A9DFFAE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12" name="Freeform 10">
              <a:extLst>
                <a:ext uri="{FF2B5EF4-FFF2-40B4-BE49-F238E27FC236}">
                  <a16:creationId xmlns:a16="http://schemas.microsoft.com/office/drawing/2014/main" id="{FC7B1DF4-AD98-42A8-820F-667A3DCC40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13" name="Freeform 11">
              <a:extLst>
                <a:ext uri="{FF2B5EF4-FFF2-40B4-BE49-F238E27FC236}">
                  <a16:creationId xmlns:a16="http://schemas.microsoft.com/office/drawing/2014/main" id="{61C58B74-3656-4FD5-AC47-EE3A59EBB8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14" name="Freeform 12">
              <a:extLst>
                <a:ext uri="{FF2B5EF4-FFF2-40B4-BE49-F238E27FC236}">
                  <a16:creationId xmlns:a16="http://schemas.microsoft.com/office/drawing/2014/main" id="{8B349A01-D803-4A18-B608-47BFCED434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16" name="Rectangle 15">
            <a:extLst>
              <a:ext uri="{FF2B5EF4-FFF2-40B4-BE49-F238E27FC236}">
                <a16:creationId xmlns:a16="http://schemas.microsoft.com/office/drawing/2014/main" id="{675B157A-751A-4B3B-84E6-DAD66F6593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75000"/>
              <a:lumOff val="25000"/>
            </a:schemeClr>
          </a:soli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FBC8EF01-693C-48AC-85A7-E9DECBCDB7D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7455" y="0"/>
            <a:ext cx="5014912" cy="6862763"/>
            <a:chOff x="2928938" y="-4763"/>
            <a:chExt cx="5014912" cy="6862763"/>
          </a:xfrm>
        </p:grpSpPr>
        <p:sp>
          <p:nvSpPr>
            <p:cNvPr id="19" name="Freeform 6">
              <a:extLst>
                <a:ext uri="{FF2B5EF4-FFF2-40B4-BE49-F238E27FC236}">
                  <a16:creationId xmlns:a16="http://schemas.microsoft.com/office/drawing/2014/main" id="{30EDCE19-50EA-40A6-B3FD-F9E1428EC3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lumMod val="75000"/>
              </a:schemeClr>
            </a:solidFill>
            <a:ln>
              <a:noFill/>
            </a:ln>
          </p:spPr>
        </p:sp>
        <p:sp>
          <p:nvSpPr>
            <p:cNvPr id="20" name="Freeform 7">
              <a:extLst>
                <a:ext uri="{FF2B5EF4-FFF2-40B4-BE49-F238E27FC236}">
                  <a16:creationId xmlns:a16="http://schemas.microsoft.com/office/drawing/2014/main" id="{D9779685-78AD-4FDC-B564-5CBB8ACE90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sp>
        <p:sp>
          <p:nvSpPr>
            <p:cNvPr id="21" name="Freeform 12">
              <a:extLst>
                <a:ext uri="{FF2B5EF4-FFF2-40B4-BE49-F238E27FC236}">
                  <a16:creationId xmlns:a16="http://schemas.microsoft.com/office/drawing/2014/main" id="{D23942F2-754F-44B1-B568-D445FBF76A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sp>
        <p:sp>
          <p:nvSpPr>
            <p:cNvPr id="22" name="Freeform 13">
              <a:extLst>
                <a:ext uri="{FF2B5EF4-FFF2-40B4-BE49-F238E27FC236}">
                  <a16:creationId xmlns:a16="http://schemas.microsoft.com/office/drawing/2014/main" id="{17E35955-774E-46C4-8A1C-AB1A0CB30E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3" name="Freeform 14">
              <a:extLst>
                <a:ext uri="{FF2B5EF4-FFF2-40B4-BE49-F238E27FC236}">
                  <a16:creationId xmlns:a16="http://schemas.microsoft.com/office/drawing/2014/main" id="{72DFC3FC-F4F4-4ACF-A597-4713DB6002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4" name="Freeform 15">
              <a:extLst>
                <a:ext uri="{FF2B5EF4-FFF2-40B4-BE49-F238E27FC236}">
                  <a16:creationId xmlns:a16="http://schemas.microsoft.com/office/drawing/2014/main" id="{F89BD807-BC67-40FF-8A0C-C7BA2CD2C4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sp>
      </p:grpSp>
      <p:sp useBgFill="1">
        <p:nvSpPr>
          <p:cNvPr id="26" name="Rectangle 25">
            <a:extLst>
              <a:ext uri="{FF2B5EF4-FFF2-40B4-BE49-F238E27FC236}">
                <a16:creationId xmlns:a16="http://schemas.microsoft.com/office/drawing/2014/main" id="{734F9891-918B-4907-B215-68406A700E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8929" y="638704"/>
            <a:ext cx="10894142" cy="5580592"/>
          </a:xfrm>
          <a:prstGeom prst="rect">
            <a:avLst/>
          </a:prstGeom>
          <a:ln w="3175" cap="sq">
            <a:solidFill>
              <a:schemeClr val="bg1">
                <a:lumMod val="65000"/>
              </a:schemeClr>
            </a:solidFill>
            <a:miter lim="800000"/>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BCC344-6BA4-9CAB-2669-8D823FBF40F5}"/>
              </a:ext>
            </a:extLst>
          </p:cNvPr>
          <p:cNvSpPr>
            <a:spLocks noGrp="1"/>
          </p:cNvSpPr>
          <p:nvPr>
            <p:ph type="title"/>
          </p:nvPr>
        </p:nvSpPr>
        <p:spPr>
          <a:xfrm>
            <a:off x="1597351" y="157124"/>
            <a:ext cx="8911570" cy="1051603"/>
          </a:xfrm>
        </p:spPr>
        <p:txBody>
          <a:bodyPr vert="horz" lIns="91440" tIns="45720" rIns="91440" bIns="45720" rtlCol="0" anchor="ctr">
            <a:normAutofit/>
          </a:bodyPr>
          <a:lstStyle/>
          <a:p>
            <a:br>
              <a:rPr lang="en-US" sz="1800" b="1" dirty="0">
                <a:solidFill>
                  <a:srgbClr val="000000"/>
                </a:solidFill>
                <a:latin typeface="Times New Roman"/>
                <a:cs typeface="Times New Roman"/>
              </a:rPr>
            </a:br>
            <a:br>
              <a:rPr lang="en-US" sz="2000" b="1" i="1" dirty="0">
                <a:latin typeface="Times New Roman"/>
                <a:cs typeface="Times New Roman"/>
              </a:rPr>
            </a:br>
            <a:r>
              <a:rPr lang="en-US" sz="2000" b="1" i="1" dirty="0">
                <a:latin typeface="Times New Roman"/>
                <a:cs typeface="Times New Roman"/>
              </a:rPr>
              <a:t>9. Poor health according to Life expectancy and </a:t>
            </a:r>
            <a:r>
              <a:rPr lang="en-US" sz="2000" b="1" i="1" dirty="0">
                <a:solidFill>
                  <a:schemeClr val="accent1"/>
                </a:solidFill>
                <a:latin typeface="Times New Roman"/>
                <a:cs typeface="Times New Roman"/>
              </a:rPr>
              <a:t>Healthy life expectancy at birth</a:t>
            </a:r>
            <a:endParaRPr lang="en-US" sz="2000" i="1">
              <a:solidFill>
                <a:schemeClr val="accent1"/>
              </a:solidFill>
              <a:latin typeface="Times New Roman"/>
              <a:cs typeface="Times New Roman"/>
            </a:endParaRPr>
          </a:p>
          <a:p>
            <a:pPr algn="l"/>
            <a:endParaRPr lang="en-US" sz="2000" dirty="0"/>
          </a:p>
        </p:txBody>
      </p:sp>
      <p:cxnSp>
        <p:nvCxnSpPr>
          <p:cNvPr id="28" name="Straight Connector 27">
            <a:extLst>
              <a:ext uri="{FF2B5EF4-FFF2-40B4-BE49-F238E27FC236}">
                <a16:creationId xmlns:a16="http://schemas.microsoft.com/office/drawing/2014/main" id="{ABE42DBE-98BB-40FC-9C91-3BCB67F8385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5" y="1920240"/>
            <a:ext cx="0" cy="301752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Picture 5" descr="A graph of a number of years lived in poor health&#10;&#10;Description automatically generated">
            <a:extLst>
              <a:ext uri="{FF2B5EF4-FFF2-40B4-BE49-F238E27FC236}">
                <a16:creationId xmlns:a16="http://schemas.microsoft.com/office/drawing/2014/main" id="{120C12BF-3AC8-B535-9A0D-0A81B5114D05}"/>
              </a:ext>
            </a:extLst>
          </p:cNvPr>
          <p:cNvPicPr>
            <a:picLocks noChangeAspect="1"/>
          </p:cNvPicPr>
          <p:nvPr/>
        </p:nvPicPr>
        <p:blipFill>
          <a:blip r:embed="rId2"/>
          <a:stretch>
            <a:fillRect/>
          </a:stretch>
        </p:blipFill>
        <p:spPr>
          <a:xfrm>
            <a:off x="5242705" y="1211473"/>
            <a:ext cx="5717872" cy="4449430"/>
          </a:xfrm>
          <a:prstGeom prst="rect">
            <a:avLst/>
          </a:prstGeom>
        </p:spPr>
      </p:pic>
      <p:sp>
        <p:nvSpPr>
          <p:cNvPr id="7" name="TextBox 6">
            <a:extLst>
              <a:ext uri="{FF2B5EF4-FFF2-40B4-BE49-F238E27FC236}">
                <a16:creationId xmlns:a16="http://schemas.microsoft.com/office/drawing/2014/main" id="{4DFDD7F2-84C0-3813-7439-DD2E1D642CCA}"/>
              </a:ext>
            </a:extLst>
          </p:cNvPr>
          <p:cNvSpPr txBox="1"/>
          <p:nvPr/>
        </p:nvSpPr>
        <p:spPr>
          <a:xfrm>
            <a:off x="958809" y="1860749"/>
            <a:ext cx="3515425"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Helvetica Neue"/>
                <a:ea typeface="Helvetica Neue"/>
                <a:cs typeface="Helvetica Neue"/>
              </a:rPr>
              <a:t>The average number of years lived in poor health is the average life expectancy minus the average number of years lived in good health (healthy life expectancy). </a:t>
            </a:r>
            <a:endParaRPr lang="en-US" dirty="0">
              <a:latin typeface="Corbel" panose="020B0503020204020204"/>
              <a:ea typeface="Helvetica Neue"/>
              <a:cs typeface="Helvetica Neue"/>
            </a:endParaRPr>
          </a:p>
          <a:p>
            <a:endParaRPr lang="en-US" dirty="0">
              <a:latin typeface="Helvetica Neue"/>
              <a:ea typeface="Helvetica Neue"/>
              <a:cs typeface="Helvetica Neue"/>
            </a:endParaRPr>
          </a:p>
          <a:p>
            <a:pPr algn="l"/>
            <a:r>
              <a:rPr lang="en-US" dirty="0">
                <a:latin typeface="Helvetica Neue"/>
                <a:ea typeface="Helvetica Neue"/>
                <a:cs typeface="Helvetica Neue"/>
              </a:rPr>
              <a:t>An increase in the average number of years lived in poor health is often referred to as ‘expansion of morbidity’, whereas a reduction is referred to as ‘compression of morbidity’</a:t>
            </a:r>
            <a:endParaRPr lang="en-US" dirty="0"/>
          </a:p>
        </p:txBody>
      </p:sp>
    </p:spTree>
    <p:extLst>
      <p:ext uri="{BB962C8B-B14F-4D97-AF65-F5344CB8AC3E}">
        <p14:creationId xmlns:p14="http://schemas.microsoft.com/office/powerpoint/2010/main" val="880125334"/>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pic>
        <p:nvPicPr>
          <p:cNvPr id="5" name="Picture 4" descr="A group of people walking&#10;&#10;Description automatically generated">
            <a:extLst>
              <a:ext uri="{FF2B5EF4-FFF2-40B4-BE49-F238E27FC236}">
                <a16:creationId xmlns:a16="http://schemas.microsoft.com/office/drawing/2014/main" id="{F32F29DE-6E92-5389-7CA4-0352F8F87E85}"/>
              </a:ext>
            </a:extLst>
          </p:cNvPr>
          <p:cNvPicPr>
            <a:picLocks noChangeAspect="1"/>
          </p:cNvPicPr>
          <p:nvPr/>
        </p:nvPicPr>
        <p:blipFill>
          <a:blip r:embed="rId3">
            <a:duotone>
              <a:schemeClr val="bg2">
                <a:shade val="45000"/>
                <a:satMod val="135000"/>
              </a:schemeClr>
              <a:prstClr val="white"/>
            </a:duotone>
            <a:alphaModFix amt="21000"/>
            <a:extLst>
              <a:ext uri="{837473B0-CC2E-450A-ABE3-18F120FF3D39}">
                <a1611:picAttrSrcUrl xmlns:a1611="http://schemas.microsoft.com/office/drawing/2016/11/main" r:id="rId4"/>
              </a:ext>
            </a:extLst>
          </a:blip>
          <a:srcRect l="10405" r="10040" b="1"/>
          <a:stretch/>
        </p:blipFill>
        <p:spPr>
          <a:xfrm>
            <a:off x="20" y="10"/>
            <a:ext cx="12191980" cy="6857990"/>
          </a:xfrm>
          <a:prstGeom prst="rect">
            <a:avLst/>
          </a:prstGeom>
        </p:spPr>
      </p:pic>
      <p:grpSp>
        <p:nvGrpSpPr>
          <p:cNvPr id="17" name="Group 16">
            <a:extLst>
              <a:ext uri="{FF2B5EF4-FFF2-40B4-BE49-F238E27FC236}">
                <a16:creationId xmlns:a16="http://schemas.microsoft.com/office/drawing/2014/main" id="{2DAE90E3-8F91-4218-8153-F632799FB07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0812" y="0"/>
            <a:ext cx="2436813" cy="6858001"/>
            <a:chOff x="1320800" y="0"/>
            <a:chExt cx="2436813" cy="6858001"/>
          </a:xfrm>
        </p:grpSpPr>
        <p:sp>
          <p:nvSpPr>
            <p:cNvPr id="11" name="Freeform 6">
              <a:extLst>
                <a:ext uri="{FF2B5EF4-FFF2-40B4-BE49-F238E27FC236}">
                  <a16:creationId xmlns:a16="http://schemas.microsoft.com/office/drawing/2014/main" id="{C1DC6993-96FE-4235-985E-52489B4237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18" name="Freeform 7">
              <a:extLst>
                <a:ext uri="{FF2B5EF4-FFF2-40B4-BE49-F238E27FC236}">
                  <a16:creationId xmlns:a16="http://schemas.microsoft.com/office/drawing/2014/main" id="{76D3DE8D-3DEC-4FF8-B4FC-1DAB203644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3" name="Freeform 8">
              <a:extLst>
                <a:ext uri="{FF2B5EF4-FFF2-40B4-BE49-F238E27FC236}">
                  <a16:creationId xmlns:a16="http://schemas.microsoft.com/office/drawing/2014/main" id="{679297AF-1418-41DB-A81A-D77E0CAF49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4" name="Freeform 9">
              <a:extLst>
                <a:ext uri="{FF2B5EF4-FFF2-40B4-BE49-F238E27FC236}">
                  <a16:creationId xmlns:a16="http://schemas.microsoft.com/office/drawing/2014/main" id="{F6AD388B-2E71-431B-90AB-B2F71F9F9D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5" name="Freeform 10">
              <a:extLst>
                <a:ext uri="{FF2B5EF4-FFF2-40B4-BE49-F238E27FC236}">
                  <a16:creationId xmlns:a16="http://schemas.microsoft.com/office/drawing/2014/main" id="{FA9972D4-1E8B-4A06-BD7C-B5140A3895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6" name="Freeform 11">
              <a:extLst>
                <a:ext uri="{FF2B5EF4-FFF2-40B4-BE49-F238E27FC236}">
                  <a16:creationId xmlns:a16="http://schemas.microsoft.com/office/drawing/2014/main" id="{528281FC-5068-4A18-832D-B47A0F1AC6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1">
            <a:extLst>
              <a:ext uri="{FF2B5EF4-FFF2-40B4-BE49-F238E27FC236}">
                <a16:creationId xmlns:a16="http://schemas.microsoft.com/office/drawing/2014/main" id="{FE72AD33-F6E6-B1C0-0A99-2F654ECCF5EB}"/>
              </a:ext>
            </a:extLst>
          </p:cNvPr>
          <p:cNvSpPr>
            <a:spLocks noGrp="1"/>
          </p:cNvSpPr>
          <p:nvPr>
            <p:ph type="title"/>
          </p:nvPr>
        </p:nvSpPr>
        <p:spPr>
          <a:xfrm>
            <a:off x="1484311" y="685800"/>
            <a:ext cx="10018713" cy="1185333"/>
          </a:xfrm>
        </p:spPr>
        <p:txBody>
          <a:bodyPr>
            <a:normAutofit/>
          </a:bodyPr>
          <a:lstStyle/>
          <a:p>
            <a:r>
              <a:rPr lang="en-US" sz="2800" b="1" i="1" dirty="0">
                <a:latin typeface="Times New Roman"/>
                <a:cs typeface="Times New Roman"/>
              </a:rPr>
              <a:t>Conclusion</a:t>
            </a:r>
          </a:p>
        </p:txBody>
      </p:sp>
      <p:sp>
        <p:nvSpPr>
          <p:cNvPr id="6" name="Content Placeholder 5">
            <a:extLst>
              <a:ext uri="{FF2B5EF4-FFF2-40B4-BE49-F238E27FC236}">
                <a16:creationId xmlns:a16="http://schemas.microsoft.com/office/drawing/2014/main" id="{3CEF1854-2001-2254-3CEB-55F1510F2EAA}"/>
              </a:ext>
            </a:extLst>
          </p:cNvPr>
          <p:cNvSpPr>
            <a:spLocks noGrp="1"/>
          </p:cNvSpPr>
          <p:nvPr>
            <p:ph idx="1"/>
          </p:nvPr>
        </p:nvSpPr>
        <p:spPr>
          <a:xfrm>
            <a:off x="1484311" y="1861867"/>
            <a:ext cx="10018713" cy="4087483"/>
          </a:xfrm>
        </p:spPr>
        <p:txBody>
          <a:bodyPr>
            <a:normAutofit lnSpcReduction="10000"/>
          </a:bodyPr>
          <a:lstStyle/>
          <a:p>
            <a:pPr marL="0" indent="0">
              <a:spcBef>
                <a:spcPts val="0"/>
              </a:spcBef>
              <a:spcAft>
                <a:spcPts val="0"/>
              </a:spcAft>
              <a:buNone/>
            </a:pPr>
            <a:r>
              <a:rPr lang="en-US" sz="1800">
                <a:latin typeface="Times New Roman"/>
                <a:cs typeface="Times New Roman"/>
              </a:rPr>
              <a:t> </a:t>
            </a:r>
            <a:r>
              <a:rPr lang="en-US" sz="1800" dirty="0">
                <a:latin typeface="Times New Roman"/>
                <a:cs typeface="Times New Roman"/>
              </a:rPr>
              <a:t>In conclusion, while both metrics are improving, the gap between life expectancy and healthy life expectancy at birth highlights the ongoing need to focus not just on prolonging life but also on enhancing the quality of health throughout those years. </a:t>
            </a:r>
            <a:endParaRPr lang="en-US" dirty="0"/>
          </a:p>
          <a:p>
            <a:pPr marL="0" indent="0">
              <a:spcBef>
                <a:spcPts val="0"/>
              </a:spcBef>
              <a:spcAft>
                <a:spcPts val="0"/>
              </a:spcAft>
              <a:buNone/>
            </a:pPr>
            <a:endParaRPr lang="en-US" sz="1800" dirty="0">
              <a:latin typeface="Times New Roman"/>
              <a:cs typeface="Times New Roman"/>
            </a:endParaRPr>
          </a:p>
          <a:p>
            <a:pPr marL="0" indent="0">
              <a:spcBef>
                <a:spcPts val="0"/>
              </a:spcBef>
              <a:spcAft>
                <a:spcPts val="0"/>
              </a:spcAft>
              <a:buClr>
                <a:srgbClr val="B96C11"/>
              </a:buClr>
              <a:buNone/>
            </a:pPr>
            <a:r>
              <a:rPr lang="en-US" sz="1800">
                <a:latin typeface="Times New Roman"/>
                <a:cs typeface="Times New Roman"/>
              </a:rPr>
              <a:t> </a:t>
            </a:r>
            <a:r>
              <a:rPr lang="en-US" sz="1800" dirty="0">
                <a:latin typeface="Times New Roman"/>
                <a:cs typeface="Times New Roman"/>
              </a:rPr>
              <a:t>Women live longer than men, even though many of the </a:t>
            </a:r>
            <a:r>
              <a:rPr lang="en-US" sz="1800" err="1">
                <a:latin typeface="Times New Roman"/>
                <a:cs typeface="Times New Roman"/>
              </a:rPr>
              <a:t>recognised</a:t>
            </a:r>
            <a:r>
              <a:rPr lang="en-US" sz="1800" dirty="0">
                <a:latin typeface="Times New Roman"/>
                <a:cs typeface="Times New Roman"/>
              </a:rPr>
              <a:t> social determinants of health are worse for women than men. </a:t>
            </a:r>
          </a:p>
          <a:p>
            <a:pPr marL="0" indent="0">
              <a:spcBef>
                <a:spcPts val="0"/>
              </a:spcBef>
              <a:spcAft>
                <a:spcPts val="0"/>
              </a:spcAft>
              <a:buClr>
                <a:srgbClr val="B96C11"/>
              </a:buClr>
              <a:buNone/>
            </a:pPr>
            <a:r>
              <a:rPr lang="en-US" sz="1800" dirty="0">
                <a:latin typeface="Times New Roman"/>
                <a:cs typeface="Times New Roman"/>
              </a:rPr>
              <a:t>No existing explanations account fully for these differences in life expectancy, although they do highlight the complexity and interaction of biological, social and health service factors. </a:t>
            </a:r>
          </a:p>
          <a:p>
            <a:pPr marL="0" indent="0">
              <a:spcBef>
                <a:spcPts val="0"/>
              </a:spcBef>
              <a:spcAft>
                <a:spcPts val="0"/>
              </a:spcAft>
              <a:buNone/>
            </a:pPr>
            <a:endParaRPr lang="en-US" sz="1800" dirty="0">
              <a:latin typeface="Times New Roman"/>
              <a:cs typeface="Times New Roman"/>
            </a:endParaRPr>
          </a:p>
          <a:p>
            <a:pPr marL="0" indent="0">
              <a:spcBef>
                <a:spcPts val="0"/>
              </a:spcBef>
              <a:spcAft>
                <a:spcPts val="0"/>
              </a:spcAft>
              <a:buClr>
                <a:srgbClr val="B96C11"/>
              </a:buClr>
              <a:buNone/>
            </a:pPr>
            <a:r>
              <a:rPr lang="en-US" sz="1800">
                <a:latin typeface="Times New Roman"/>
                <a:cs typeface="Times New Roman"/>
              </a:rPr>
              <a:t> </a:t>
            </a:r>
            <a:r>
              <a:rPr lang="en-US" sz="1800" dirty="0">
                <a:latin typeface="Times New Roman"/>
                <a:cs typeface="Times New Roman"/>
              </a:rPr>
              <a:t>Life expectancy at birth is widely recognized as a summary measure of mortality that allows the extent and trend of health inequalities to be compared within and across societies. </a:t>
            </a:r>
          </a:p>
          <a:p>
            <a:pPr marL="0" indent="0">
              <a:spcBef>
                <a:spcPts val="0"/>
              </a:spcBef>
              <a:spcAft>
                <a:spcPts val="0"/>
              </a:spcAft>
              <a:buClr>
                <a:srgbClr val="B96C11"/>
              </a:buClr>
              <a:buNone/>
            </a:pPr>
            <a:r>
              <a:rPr lang="en-US" sz="1800" dirty="0">
                <a:latin typeface="Times New Roman"/>
                <a:cs typeface="Times New Roman"/>
              </a:rPr>
              <a:t>Since 2000, in all countries in the world, women have lived longer than men, but paradoxically report more illness than men. </a:t>
            </a:r>
          </a:p>
          <a:p>
            <a:pPr marL="0" indent="0">
              <a:spcBef>
                <a:spcPts val="0"/>
              </a:spcBef>
              <a:spcAft>
                <a:spcPts val="0"/>
              </a:spcAft>
              <a:buClr>
                <a:srgbClr val="B96C11"/>
              </a:buClr>
              <a:buNone/>
            </a:pPr>
            <a:r>
              <a:rPr lang="en-US" sz="1800" dirty="0">
                <a:latin typeface="Times New Roman"/>
                <a:cs typeface="Times New Roman"/>
              </a:rPr>
              <a:t>Depression and mental health issues, which are slightly higher among women, are also one explanation as to why women live more years in ill-health than men.</a:t>
            </a:r>
            <a:endParaRPr lang="en-US" dirty="0"/>
          </a:p>
        </p:txBody>
      </p:sp>
      <p:sp>
        <p:nvSpPr>
          <p:cNvPr id="7" name="Content Placeholder 2">
            <a:extLst>
              <a:ext uri="{FF2B5EF4-FFF2-40B4-BE49-F238E27FC236}">
                <a16:creationId xmlns:a16="http://schemas.microsoft.com/office/drawing/2014/main" id="{A6C66A39-176E-A638-61A0-E64C21C327AD}"/>
              </a:ext>
            </a:extLst>
          </p:cNvPr>
          <p:cNvSpPr>
            <a:spLocks noGrp="1"/>
          </p:cNvSpPr>
          <p:nvPr/>
        </p:nvSpPr>
        <p:spPr>
          <a:xfrm>
            <a:off x="1369291" y="2026888"/>
            <a:ext cx="10392524" cy="3793067"/>
          </a:xfrm>
          <a:prstGeom prst="rect">
            <a:avLst/>
          </a:prstGeom>
        </p:spPr>
        <p:txBody>
          <a:bodyPr vert="horz" lIns="91440" tIns="45720" rIns="91440" bIns="4572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800" dirty="0">
              <a:latin typeface="Times New Roman"/>
              <a:cs typeface="Times New Roman"/>
            </a:endParaRPr>
          </a:p>
          <a:p>
            <a:pPr>
              <a:buClr>
                <a:srgbClr val="B96C11"/>
              </a:buClr>
            </a:pPr>
            <a:endParaRPr lang="en-US" sz="2000" dirty="0">
              <a:latin typeface="Times New Roman"/>
              <a:cs typeface="Times New Roman"/>
            </a:endParaRPr>
          </a:p>
        </p:txBody>
      </p:sp>
      <p:sp>
        <p:nvSpPr>
          <p:cNvPr id="8" name="Content Placeholder 2">
            <a:extLst>
              <a:ext uri="{FF2B5EF4-FFF2-40B4-BE49-F238E27FC236}">
                <a16:creationId xmlns:a16="http://schemas.microsoft.com/office/drawing/2014/main" id="{A6C66A39-176E-A638-61A0-E64C21C327AD}"/>
              </a:ext>
            </a:extLst>
          </p:cNvPr>
          <p:cNvSpPr>
            <a:spLocks noGrp="1"/>
          </p:cNvSpPr>
          <p:nvPr/>
        </p:nvSpPr>
        <p:spPr>
          <a:xfrm>
            <a:off x="1369291" y="2026888"/>
            <a:ext cx="10392524" cy="3793067"/>
          </a:xfrm>
          <a:prstGeom prst="rect">
            <a:avLst/>
          </a:prstGeom>
        </p:spPr>
        <p:txBody>
          <a:bodyPr vert="horz" lIns="91440" tIns="45720" rIns="91440" bIns="4572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800" dirty="0">
              <a:latin typeface="Times New Roman"/>
              <a:cs typeface="Times New Roman"/>
            </a:endParaRPr>
          </a:p>
          <a:p>
            <a:pPr>
              <a:buClr>
                <a:srgbClr val="B96C11"/>
              </a:buClr>
            </a:pPr>
            <a:endParaRPr lang="en-US" sz="2000" dirty="0">
              <a:latin typeface="Times New Roman"/>
              <a:cs typeface="Times New Roman"/>
            </a:endParaRPr>
          </a:p>
        </p:txBody>
      </p:sp>
    </p:spTree>
    <p:extLst>
      <p:ext uri="{BB962C8B-B14F-4D97-AF65-F5344CB8AC3E}">
        <p14:creationId xmlns:p14="http://schemas.microsoft.com/office/powerpoint/2010/main" val="360690821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EB8F22"/>
      </a:accent1>
      <a:accent2>
        <a:srgbClr val="CD4223"/>
      </a:accent2>
      <a:accent3>
        <a:srgbClr val="A89374"/>
      </a:accent3>
      <a:accent4>
        <a:srgbClr val="83AA67"/>
      </a:accent4>
      <a:accent5>
        <a:srgbClr val="4FA9C1"/>
      </a:accent5>
      <a:accent6>
        <a:srgbClr val="9390AF"/>
      </a:accent6>
      <a:hlink>
        <a:srgbClr val="EC7220"/>
      </a:hlink>
      <a:folHlink>
        <a:srgbClr val="F09355"/>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EBEC8F79-A447-43FC-8E81-85E8468AF3F9}"/>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17</Slides>
  <Notes>0</Notes>
  <HiddenSlides>0</HiddenSlide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Parallax</vt:lpstr>
      <vt:lpstr>A few months ago I started a Data Analytics course with Cambridge Spark and I wish I had done it earlier because I enjoyed it immensely and looked forward to every session.  </vt:lpstr>
      <vt:lpstr>Life Expectancy at birth  &amp;  Healthy Life Expectancy at birth</vt:lpstr>
      <vt:lpstr>PowerPoint Presentation</vt:lpstr>
      <vt:lpstr>PowerPoint Presentation</vt:lpstr>
      <vt:lpstr>Average life expectancy and healthy life expectancy are both important headline measures of the health status of the population.  The healthy life expectancy measure adds a ‘quality of life’ dimension to estimates of life expectancy by dividing it into time spent in different states of health. </vt:lpstr>
      <vt:lpstr>Merging the datasets:  Life Expectancy &amp;  Healthy Life Expectancy at birth</vt:lpstr>
      <vt:lpstr>2. Gender grouped by Life expectancy (at birth) &amp; Healthy life expectancy (at birth) mean and presented individually</vt:lpstr>
      <vt:lpstr>  3. Global analysis by Life expectancy  (at birth) &amp;  Healthy life expectancy (at birth) </vt:lpstr>
      <vt:lpstr>4. WHO Regions by Life expectancy (at birth) and Healthy life expectancy (at birth) </vt:lpstr>
      <vt:lpstr>5.1 Analysing and comparing WHO regions - AFRICA and EUROPE Life expectancy (at birth) between 2000 - 2021   </vt:lpstr>
      <vt:lpstr>5.2  Analysing and comparing WHO regions - AFRICA and EUROPE  Healthy life expectancy (at birth) between 2000 - 2021</vt:lpstr>
      <vt:lpstr>PowerPoint Presentation</vt:lpstr>
      <vt:lpstr>7. World Bank Income Group regions analysis 7.1 Life expectancy at birth  </vt:lpstr>
      <vt:lpstr>PowerPoint Presentation</vt:lpstr>
      <vt:lpstr>8. National liberation movement and organized, unincorporated territories Life expectancy at birth &amp; Healthy life expectancy at birth</vt:lpstr>
      <vt:lpstr>  9. Poor health according to Life expectancy and Healthy life expectancy at birth </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1234</cp:revision>
  <dcterms:created xsi:type="dcterms:W3CDTF">2024-08-02T15:01:14Z</dcterms:created>
  <dcterms:modified xsi:type="dcterms:W3CDTF">2024-08-10T21:08:33Z</dcterms:modified>
</cp:coreProperties>
</file>